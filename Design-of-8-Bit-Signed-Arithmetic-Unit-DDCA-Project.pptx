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Barlow"/>
      <p:regular r:id="rId201314"/>
    </p:embeddedFont>
    <p:embeddedFont>
      <p:font typeface="Barlow Bold"/>
      <p:regular r:id="rId201315"/>
    </p:embeddedFont>
    <p:embeddedFont>
      <p:font typeface="Spline Sans Bol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A081B">
              <a:alpha val="75000"/>
            </a:srgbClr>
          </a:solidFill>
          <a:ln/>
        </p:spPr>
      </p:sp>
      <p:pic>
        <p:nvPicPr>
          <p:cNvPr id="4"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7.png"/><Relationship Id="rId8" Type="http://schemas.openxmlformats.org/officeDocument/2006/relationships/image" Target="../media/image-3-8.svg"/><Relationship Id="rId9" Type="http://schemas.openxmlformats.org/officeDocument/2006/relationships/image" Target="../media/image-3-1.png"/><Relationship Id="rId10" Type="http://schemas.openxmlformats.org/officeDocument/2006/relationships/image" Target="../media/image-3-2.svg"/><Relationship Id="rId11" Type="http://schemas.openxmlformats.org/officeDocument/2006/relationships/slideLayout" Target="../slideLayouts/slideLayout2.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image" Target="../media/image-5-7.png"/><Relationship Id="rId8" Type="http://schemas.openxmlformats.org/officeDocument/2006/relationships/image" Target="../media/image-5-8.svg"/><Relationship Id="rId9" Type="http://schemas.openxmlformats.org/officeDocument/2006/relationships/slideLayout" Target="../slideLayouts/slideLayout2.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svg"/><Relationship Id="rId4" Type="http://schemas.openxmlformats.org/officeDocument/2006/relationships/image" Target="../media/image-6-4.png"/><Relationship Id="rId5" Type="http://schemas.openxmlformats.org/officeDocument/2006/relationships/image" Target="../media/image-6-5.svg"/><Relationship Id="rId6" Type="http://schemas.openxmlformats.org/officeDocument/2006/relationships/image" Target="../media/image-6-6.png"/><Relationship Id="rId7" Type="http://schemas.openxmlformats.org/officeDocument/2006/relationships/image" Target="../media/image-6-7.svg"/><Relationship Id="rId8" Type="http://schemas.openxmlformats.org/officeDocument/2006/relationships/image" Target="../media/image-6-8.png"/><Relationship Id="rId9" Type="http://schemas.openxmlformats.org/officeDocument/2006/relationships/image" Target="../media/image-6-9.svg"/><Relationship Id="rId10" Type="http://schemas.openxmlformats.org/officeDocument/2006/relationships/slideLayout" Target="../slideLayouts/slideLayout2.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4571886" cy="6858000"/>
          </a:xfrm>
          <a:prstGeom prst="rect">
            <a:avLst/>
          </a:prstGeom>
          <a:solidFill>
            <a:srgbClr val="0A081B"/>
          </a:solidFill>
          <a:ln/>
        </p:spPr>
      </p:sp>
      <p:pic>
        <p:nvPicPr>
          <p:cNvPr id="3" name="Image 0" descr="preencoded.png">    </p:cNvPr>
          <p:cNvPicPr>
            <a:picLocks noChangeAspect="1"/>
          </p:cNvPicPr>
          <p:nvPr/>
        </p:nvPicPr>
        <p:blipFill>
          <a:blip r:embed="rId1"/>
          <a:stretch>
            <a:fillRect/>
          </a:stretch>
        </p:blipFill>
        <p:spPr>
          <a:xfrm>
            <a:off x="89096" y="133648"/>
            <a:ext cx="4393693" cy="6590705"/>
          </a:xfrm>
          <a:prstGeom prst="rect">
            <a:avLst/>
          </a:prstGeom>
        </p:spPr>
      </p:pic>
      <p:sp>
        <p:nvSpPr>
          <p:cNvPr id="4" name="Text 1"/>
          <p:cNvSpPr/>
          <p:nvPr/>
        </p:nvSpPr>
        <p:spPr>
          <a:xfrm>
            <a:off x="5306086" y="701973"/>
            <a:ext cx="6151409" cy="990600"/>
          </a:xfrm>
          <a:prstGeom prst="rect">
            <a:avLst/>
          </a:prstGeom>
          <a:noFill/>
          <a:ln/>
        </p:spPr>
        <p:txBody>
          <a:bodyPr wrap="square" lIns="0" tIns="0" rIns="0" bIns="0" rtlCol="0" anchor="t">
            <a:normAutofit/>
          </a:bodyPr>
          <a:lstStyle/>
          <a:p>
            <a:pPr algn="l" indent="0" marL="0">
              <a:lnSpc>
                <a:spcPct val="104000"/>
              </a:lnSpc>
              <a:buNone/>
            </a:pPr>
            <a:r>
              <a:rPr lang="en-US" sz="3100" b="1" dirty="0">
                <a:solidFill>
                  <a:srgbClr val="F0FCFF"/>
                </a:solidFill>
                <a:latin typeface="Spline Sans Bold" pitchFamily="34" charset="0"/>
                <a:ea typeface="Spline Sans Bold" pitchFamily="34" charset="-122"/>
                <a:cs typeface="Spline Sans Bold" pitchFamily="34" charset="-120"/>
              </a:rPr>
              <a:t>Design and Simulation of an 8-Bit Signed Arithmetic Unit</a:t>
            </a:r>
            <a:endParaRPr lang="en-US" sz="3100" dirty="0"/>
          </a:p>
        </p:txBody>
      </p:sp>
      <p:sp>
        <p:nvSpPr>
          <p:cNvPr id="5" name="Text 2"/>
          <p:cNvSpPr/>
          <p:nvPr/>
        </p:nvSpPr>
        <p:spPr>
          <a:xfrm>
            <a:off x="5306086" y="1919883"/>
            <a:ext cx="6760993" cy="263823"/>
          </a:xfrm>
          <a:prstGeom prst="rect">
            <a:avLst/>
          </a:prstGeom>
          <a:noFill/>
          <a:ln/>
        </p:spPr>
        <p:txBody>
          <a:bodyPr wrap="none" lIns="0" tIns="0" rIns="0" bIns="0" rtlCol="0" anchor="t"/>
          <a:lstStyle/>
          <a:p>
            <a:pPr algn="l" indent="0" marL="0">
              <a:lnSpc>
                <a:spcPct val="123000"/>
              </a:lnSpc>
              <a:buNone/>
            </a:pPr>
            <a:r>
              <a:rPr lang="en-US" sz="1400" b="1" dirty="0">
                <a:solidFill>
                  <a:srgbClr val="E0E4E6"/>
                </a:solidFill>
                <a:latin typeface="Barlow Bold" pitchFamily="34" charset="0"/>
                <a:ea typeface="Barlow Bold" pitchFamily="34" charset="-122"/>
                <a:cs typeface="Barlow Bold" pitchFamily="34" charset="-120"/>
              </a:rPr>
              <a:t>1st-Year B.Tech DDCA project</a:t>
            </a:r>
            <a:endParaRPr lang="en-US" sz="1400" dirty="0"/>
          </a:p>
        </p:txBody>
      </p:sp>
      <p:sp>
        <p:nvSpPr>
          <p:cNvPr id="6" name="Shape 3"/>
          <p:cNvSpPr/>
          <p:nvPr/>
        </p:nvSpPr>
        <p:spPr>
          <a:xfrm>
            <a:off x="5306086" y="2354163"/>
            <a:ext cx="6151409" cy="1788517"/>
          </a:xfrm>
          <a:prstGeom prst="roundRect">
            <a:avLst>
              <a:gd name="adj" fmla="val 14956"/>
            </a:avLst>
          </a:prstGeom>
          <a:solidFill>
            <a:srgbClr val="0A081B"/>
          </a:solidFill>
          <a:ln w="19050">
            <a:solidFill>
              <a:srgbClr val="16FFBB"/>
            </a:solidFill>
            <a:prstDash val="solid"/>
          </a:ln>
        </p:spPr>
      </p:sp>
      <p:sp>
        <p:nvSpPr>
          <p:cNvPr id="7" name="Text 4"/>
          <p:cNvSpPr/>
          <p:nvPr/>
        </p:nvSpPr>
        <p:spPr>
          <a:xfrm>
            <a:off x="5503427" y="2551509"/>
            <a:ext cx="5756726" cy="247650"/>
          </a:xfrm>
          <a:prstGeom prst="rect">
            <a:avLst/>
          </a:prstGeom>
          <a:noFill/>
          <a:ln/>
        </p:spPr>
        <p:txBody>
          <a:bodyPr wrap="none" lIns="0" tIns="0" rIns="0" bIns="0" rtlCol="0" anchor="t"/>
          <a:lstStyle/>
          <a:p>
            <a:pPr algn="l" indent="0" marL="0">
              <a:lnSpc>
                <a:spcPct val="104000"/>
              </a:lnSpc>
              <a:buNone/>
            </a:pPr>
            <a:r>
              <a:rPr lang="en-US" sz="1550" b="1" dirty="0">
                <a:solidFill>
                  <a:srgbClr val="E0E4E6"/>
                </a:solidFill>
                <a:latin typeface="Spline Sans Bold" pitchFamily="34" charset="0"/>
                <a:ea typeface="Spline Sans Bold" pitchFamily="34" charset="-122"/>
                <a:cs typeface="Spline Sans Bold" pitchFamily="34" charset="-120"/>
              </a:rPr>
              <a:t>Team Members</a:t>
            </a:r>
            <a:endParaRPr lang="en-US" sz="1550" dirty="0"/>
          </a:p>
        </p:txBody>
      </p:sp>
      <p:sp>
        <p:nvSpPr>
          <p:cNvPr id="8" name="Text 5"/>
          <p:cNvSpPr/>
          <p:nvPr/>
        </p:nvSpPr>
        <p:spPr>
          <a:xfrm>
            <a:off x="5503427" y="2890044"/>
            <a:ext cx="5756726" cy="1055291"/>
          </a:xfrm>
          <a:prstGeom prst="rect">
            <a:avLst/>
          </a:prstGeom>
          <a:noFill/>
          <a:ln/>
        </p:spPr>
        <p:txBody>
          <a:bodyPr wrap="square" lIns="0" tIns="0" rIns="0" bIns="0" rtlCol="0" anchor="t">
            <a:normAutofit/>
          </a:bodyPr>
          <a:lstStyle/>
          <a:p>
            <a:pPr algn="l" indent="0" marL="0">
              <a:lnSpc>
                <a:spcPct val="123000"/>
              </a:lnSpc>
              <a:buNone/>
            </a:pPr>
            <a:r>
              <a:rPr lang="en-US" sz="1400" dirty="0">
                <a:solidFill>
                  <a:srgbClr val="E0E4E6"/>
                </a:solidFill>
                <a:latin typeface="Barlow" pitchFamily="34" charset="0"/>
                <a:ea typeface="Barlow" pitchFamily="34" charset="-122"/>
                <a:cs typeface="Barlow" pitchFamily="34" charset="-120"/>
              </a:rPr>
              <a:t>K.Naadhiyah-(Roll No. 2620030325)</a:t>
            </a:r>
            <a:endParaRPr lang="en-US" sz="1400" dirty="0"/>
          </a:p>
          <a:p>
            <a:pPr algn="l" indent="0" marL="0">
              <a:lnSpc>
                <a:spcPct val="123000"/>
              </a:lnSpc>
              <a:buNone/>
            </a:pPr>
            <a:r>
              <a:rPr lang="en-US" sz="1400" dirty="0">
                <a:solidFill>
                  <a:srgbClr val="E0E4E6"/>
                </a:solidFill>
                <a:latin typeface="Barlow" pitchFamily="34" charset="0"/>
                <a:ea typeface="Barlow" pitchFamily="34" charset="-122"/>
                <a:cs typeface="Barlow" pitchFamily="34" charset="-120"/>
              </a:rPr>
              <a:t>G.Vinay-(Roll No. 2620030322)</a:t>
            </a:r>
            <a:endParaRPr lang="en-US" sz="1400" dirty="0"/>
          </a:p>
          <a:p>
            <a:pPr algn="l" indent="0" marL="0">
              <a:lnSpc>
                <a:spcPct val="123000"/>
              </a:lnSpc>
              <a:buNone/>
            </a:pPr>
            <a:r>
              <a:rPr lang="en-US" sz="1400" dirty="0">
                <a:solidFill>
                  <a:srgbClr val="E0E4E6"/>
                </a:solidFill>
                <a:latin typeface="Barlow" pitchFamily="34" charset="0"/>
                <a:ea typeface="Barlow" pitchFamily="34" charset="-122"/>
                <a:cs typeface="Barlow" pitchFamily="34" charset="-120"/>
              </a:rPr>
              <a:t>S.Karthikeya- (Roll No. 2620030335)</a:t>
            </a:r>
            <a:endParaRPr lang="en-US" sz="1400" dirty="0"/>
          </a:p>
          <a:p>
            <a:pPr algn="l" indent="0" marL="0">
              <a:lnSpc>
                <a:spcPct val="123000"/>
              </a:lnSpc>
              <a:buNone/>
            </a:pPr>
            <a:r>
              <a:rPr lang="en-US" sz="1400" dirty="0">
                <a:solidFill>
                  <a:srgbClr val="E0E4E6"/>
                </a:solidFill>
                <a:latin typeface="Barlow" pitchFamily="34" charset="0"/>
                <a:ea typeface="Barlow" pitchFamily="34" charset="-122"/>
                <a:cs typeface="Barlow" pitchFamily="34" charset="-120"/>
              </a:rPr>
              <a:t>G.Bharath- (Roll No. 2620030326)</a:t>
            </a:r>
            <a:endParaRPr lang="en-US" sz="1400" dirty="0"/>
          </a:p>
        </p:txBody>
      </p:sp>
      <p:sp>
        <p:nvSpPr>
          <p:cNvPr id="9" name="Text 6"/>
          <p:cNvSpPr/>
          <p:nvPr/>
        </p:nvSpPr>
        <p:spPr>
          <a:xfrm>
            <a:off x="4696501" y="4747419"/>
            <a:ext cx="6760993" cy="263823"/>
          </a:xfrm>
          <a:prstGeom prst="rect">
            <a:avLst/>
          </a:prstGeom>
          <a:noFill/>
          <a:ln/>
        </p:spPr>
        <p:txBody>
          <a:bodyPr wrap="none" lIns="0" tIns="0" rIns="0" bIns="0" rtlCol="0" anchor="t"/>
          <a:lstStyle/>
          <a:p>
            <a:pPr algn="r" indent="0" marL="0">
              <a:lnSpc>
                <a:spcPct val="123000"/>
              </a:lnSpc>
              <a:buNone/>
            </a:pPr>
            <a:r>
              <a:rPr lang="en-US" sz="1400" dirty="0">
                <a:solidFill>
                  <a:srgbClr val="E0E4E6"/>
                </a:solidFill>
                <a:latin typeface="Barlow" pitchFamily="34" charset="0"/>
                <a:ea typeface="Barlow" pitchFamily="34" charset="-122"/>
                <a:cs typeface="Barlow" pitchFamily="34" charset="-120"/>
              </a:rPr>
              <a:t>                                                 Department and Institution</a:t>
            </a:r>
            <a:endParaRPr lang="en-US" sz="1400" dirty="0"/>
          </a:p>
        </p:txBody>
      </p:sp>
      <p:sp>
        <p:nvSpPr>
          <p:cNvPr id="10" name="Text 7"/>
          <p:cNvSpPr/>
          <p:nvPr/>
        </p:nvSpPr>
        <p:spPr>
          <a:xfrm>
            <a:off x="5306086" y="5181699"/>
            <a:ext cx="6151409" cy="974328"/>
          </a:xfrm>
          <a:prstGeom prst="rect">
            <a:avLst/>
          </a:prstGeom>
          <a:noFill/>
          <a:ln/>
        </p:spPr>
        <p:txBody>
          <a:bodyPr wrap="square" lIns="0" tIns="0" rIns="0" bIns="0" rtlCol="0" anchor="t"/>
          <a:lstStyle/>
          <a:p>
            <a:pPr algn="r" indent="0" marL="0">
              <a:lnSpc>
                <a:spcPct val="123000"/>
              </a:lnSpc>
              <a:spcAft>
                <a:spcPts val="1300"/>
              </a:spcAft>
              <a:buNone/>
            </a:pPr>
            <a:r>
              <a:rPr lang="en-US" sz="1100" dirty="0">
                <a:solidFill>
                  <a:srgbClr val="E0E4E6"/>
                </a:solidFill>
                <a:latin typeface="Barlow" pitchFamily="34" charset="0"/>
                <a:ea typeface="Barlow" pitchFamily="34" charset="-122"/>
                <a:cs typeface="Barlow" pitchFamily="34" charset="-120"/>
              </a:rPr>
              <a:t>KLHB-University</a:t>
            </a:r>
            <a:endParaRPr lang="en-US" sz="1100" dirty="0"/>
          </a:p>
          <a:p>
            <a:pPr algn="r" indent="0" marL="0">
              <a:lnSpc>
                <a:spcPct val="123000"/>
              </a:lnSpc>
              <a:spcAft>
                <a:spcPts val="1300"/>
              </a:spcAft>
              <a:buNone/>
            </a:pPr>
            <a:r>
              <a:rPr lang="en-US" sz="1100" dirty="0">
                <a:solidFill>
                  <a:srgbClr val="E0E4E6"/>
                </a:solidFill>
                <a:latin typeface="Barlow" pitchFamily="34" charset="0"/>
                <a:ea typeface="Barlow" pitchFamily="34" charset="-122"/>
                <a:cs typeface="Barlow" pitchFamily="34" charset="-120"/>
              </a:rPr>
              <a:t>Dept of  Computer science and Eng.</a:t>
            </a:r>
            <a:endParaRPr lang="en-US" sz="1100" dirty="0"/>
          </a:p>
          <a:p>
            <a:pPr algn="r" indent="0" marL="0">
              <a:lnSpc>
                <a:spcPct val="123000"/>
              </a:lnSpc>
              <a:buNone/>
            </a:pPr>
            <a:r>
              <a:rPr lang="en-US" sz="1100" dirty="0">
                <a:solidFill>
                  <a:srgbClr val="E0E4E6"/>
                </a:solidFill>
                <a:latin typeface="Barlow" pitchFamily="34" charset="0"/>
                <a:ea typeface="Barlow" pitchFamily="34" charset="-122"/>
                <a:cs typeface="Barlow" pitchFamily="34" charset="-120"/>
              </a:rPr>
              <a:t>Academic year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34200" y="874018"/>
            <a:ext cx="10723294" cy="582712"/>
          </a:xfrm>
          <a:prstGeom prst="rect">
            <a:avLst/>
          </a:prstGeom>
          <a:noFill/>
          <a:ln/>
        </p:spPr>
        <p:txBody>
          <a:bodyPr wrap="none" lIns="0" tIns="0" rIns="0" bIns="0" rtlCol="0" anchor="t"/>
          <a:lstStyle/>
          <a:p>
            <a:pPr algn="l" indent="0" marL="0">
              <a:lnSpc>
                <a:spcPct val="104000"/>
              </a:lnSpc>
              <a:buNone/>
            </a:pPr>
            <a:r>
              <a:rPr lang="en-US" sz="3650" b="1" dirty="0">
                <a:solidFill>
                  <a:srgbClr val="F0FCFF"/>
                </a:solidFill>
                <a:latin typeface="Spline Sans Bold" pitchFamily="34" charset="0"/>
                <a:ea typeface="Spline Sans Bold" pitchFamily="34" charset="-122"/>
                <a:cs typeface="Spline Sans Bold" pitchFamily="34" charset="-120"/>
              </a:rPr>
              <a:t>Problem Statement &amp; Abstract</a:t>
            </a:r>
            <a:endParaRPr lang="en-US" sz="3650" dirty="0"/>
          </a:p>
        </p:txBody>
      </p:sp>
      <p:sp>
        <p:nvSpPr>
          <p:cNvPr id="3" name="Text 1"/>
          <p:cNvSpPr/>
          <p:nvPr/>
        </p:nvSpPr>
        <p:spPr>
          <a:xfrm>
            <a:off x="734200" y="1981101"/>
            <a:ext cx="6790957" cy="291405"/>
          </a:xfrm>
          <a:prstGeom prst="rect">
            <a:avLst/>
          </a:prstGeom>
          <a:noFill/>
          <a:ln/>
        </p:spPr>
        <p:txBody>
          <a:bodyPr wrap="none" lIns="0" tIns="0" rIns="0" bIns="0" rtlCol="0" anchor="t"/>
          <a:lstStyle/>
          <a:p>
            <a:pPr algn="l" indent="0" marL="0">
              <a:lnSpc>
                <a:spcPct val="104000"/>
              </a:lnSpc>
              <a:buNone/>
            </a:pPr>
            <a:r>
              <a:rPr lang="en-US" sz="1800" b="1" dirty="0">
                <a:solidFill>
                  <a:srgbClr val="F0FCFF"/>
                </a:solidFill>
                <a:latin typeface="Spline Sans Bold" pitchFamily="34" charset="0"/>
                <a:ea typeface="Spline Sans Bold" pitchFamily="34" charset="-122"/>
                <a:cs typeface="Spline Sans Bold" pitchFamily="34" charset="-120"/>
              </a:rPr>
              <a:t>What Problem Does This Project Solve?</a:t>
            </a:r>
            <a:endParaRPr lang="en-US" sz="1800" dirty="0"/>
          </a:p>
        </p:txBody>
      </p:sp>
      <p:sp>
        <p:nvSpPr>
          <p:cNvPr id="4" name="Text 2"/>
          <p:cNvSpPr/>
          <p:nvPr/>
        </p:nvSpPr>
        <p:spPr>
          <a:xfrm>
            <a:off x="734200" y="2482255"/>
            <a:ext cx="6790957" cy="1154112"/>
          </a:xfrm>
          <a:prstGeom prst="rect">
            <a:avLst/>
          </a:prstGeom>
          <a:noFill/>
          <a:ln/>
        </p:spPr>
        <p:txBody>
          <a:bodyPr wrap="square" lIns="0" tIns="0" rIns="0" bIns="0" rtlCol="0" anchor="t">
            <a:normAutofit/>
          </a:bodyPr>
          <a:lstStyle/>
          <a:p>
            <a:pPr algn="l" marL="335280" indent="-335280">
              <a:lnSpc>
                <a:spcPct val="133000"/>
              </a:lnSpc>
              <a:buSzPct val="100000"/>
              <a:buChar char="•"/>
            </a:pPr>
            <a:r>
              <a:rPr lang="en-US" sz="1650" dirty="0">
                <a:solidFill>
                  <a:srgbClr val="E0E4E6"/>
                </a:solidFill>
                <a:latin typeface="Barlow" pitchFamily="34" charset="0"/>
                <a:ea typeface="Barlow" pitchFamily="34" charset="-122"/>
                <a:cs typeface="Barlow" pitchFamily="34" charset="-120"/>
              </a:rPr>
              <a:t>Computers need to do math calculations very quickly</a:t>
            </a:r>
            <a:endParaRPr lang="en-US" sz="1650" dirty="0"/>
          </a:p>
          <a:p>
            <a:pPr algn="l" marL="335280" indent="-335280">
              <a:lnSpc>
                <a:spcPct val="133000"/>
              </a:lnSpc>
              <a:buSzPct val="100000"/>
              <a:buChar char="•"/>
            </a:pPr>
            <a:r>
              <a:rPr lang="en-US" sz="1650" dirty="0">
                <a:solidFill>
                  <a:srgbClr val="E0E4E6"/>
                </a:solidFill>
                <a:latin typeface="Barlow" pitchFamily="34" charset="0"/>
                <a:ea typeface="Barlow" pitchFamily="34" charset="-122"/>
                <a:cs typeface="Barlow" pitchFamily="34" charset="-120"/>
              </a:rPr>
              <a:t>They must handle both </a:t>
            </a:r>
            <a:pPr algn="l" marL="335280" indent="-335280">
              <a:lnSpc>
                <a:spcPct val="133000"/>
              </a:lnSpc>
              <a:buSzPct val="100000"/>
              <a:buChar char="•"/>
            </a:pPr>
            <a:r>
              <a:rPr lang="en-US" sz="1650" b="1" dirty="0">
                <a:solidFill>
                  <a:srgbClr val="E0E4E6"/>
                </a:solidFill>
                <a:latin typeface="Barlow Bold" pitchFamily="34" charset="0"/>
                <a:ea typeface="Barlow Bold" pitchFamily="34" charset="-122"/>
                <a:cs typeface="Barlow Bold" pitchFamily="34" charset="-120"/>
              </a:rPr>
              <a:t>positive and negative</a:t>
            </a:r>
            <a:pPr algn="l" marL="335280" indent="-335280">
              <a:lnSpc>
                <a:spcPct val="133000"/>
              </a:lnSpc>
              <a:buSzPct val="100000"/>
              <a:buChar char="•"/>
            </a:pPr>
            <a:r>
              <a:rPr lang="en-US" sz="1650" dirty="0">
                <a:solidFill>
                  <a:srgbClr val="E0E4E6"/>
                </a:solidFill>
                <a:latin typeface="Barlow" pitchFamily="34" charset="0"/>
                <a:ea typeface="Barlow" pitchFamily="34" charset="-122"/>
                <a:cs typeface="Barlow" pitchFamily="34" charset="-120"/>
              </a:rPr>
              <a:t> numbers</a:t>
            </a:r>
            <a:endParaRPr lang="en-US" sz="1650" dirty="0"/>
          </a:p>
          <a:p>
            <a:pPr algn="l" marL="335280" indent="-335280">
              <a:lnSpc>
                <a:spcPct val="133000"/>
              </a:lnSpc>
              <a:buSzPct val="100000"/>
              <a:buChar char="•"/>
            </a:pPr>
            <a:r>
              <a:rPr lang="en-US" sz="1650" dirty="0">
                <a:solidFill>
                  <a:srgbClr val="E0E4E6"/>
                </a:solidFill>
                <a:latin typeface="Barlow" pitchFamily="34" charset="0"/>
                <a:ea typeface="Barlow" pitchFamily="34" charset="-122"/>
                <a:cs typeface="Barlow" pitchFamily="34" charset="-120"/>
              </a:rPr>
              <a:t>The system must be small and use less power</a:t>
            </a:r>
            <a:endParaRPr lang="en-US" sz="1650" dirty="0"/>
          </a:p>
        </p:txBody>
      </p:sp>
      <p:sp>
        <p:nvSpPr>
          <p:cNvPr id="5" name="Text 3"/>
          <p:cNvSpPr/>
          <p:nvPr/>
        </p:nvSpPr>
        <p:spPr>
          <a:xfrm>
            <a:off x="734200" y="3846116"/>
            <a:ext cx="6790957" cy="291405"/>
          </a:xfrm>
          <a:prstGeom prst="rect">
            <a:avLst/>
          </a:prstGeom>
          <a:noFill/>
          <a:ln/>
        </p:spPr>
        <p:txBody>
          <a:bodyPr wrap="none" lIns="0" tIns="0" rIns="0" bIns="0" rtlCol="0" anchor="t"/>
          <a:lstStyle/>
          <a:p>
            <a:pPr algn="l" indent="0" marL="0">
              <a:lnSpc>
                <a:spcPct val="104000"/>
              </a:lnSpc>
              <a:buNone/>
            </a:pPr>
            <a:r>
              <a:rPr lang="en-US" sz="1800" b="1" dirty="0">
                <a:solidFill>
                  <a:srgbClr val="F0FCFF"/>
                </a:solidFill>
                <a:latin typeface="Spline Sans Bold" pitchFamily="34" charset="0"/>
                <a:ea typeface="Spline Sans Bold" pitchFamily="34" charset="-122"/>
                <a:cs typeface="Spline Sans Bold" pitchFamily="34" charset="-120"/>
              </a:rPr>
              <a:t>Why Do We Need This Project?</a:t>
            </a:r>
            <a:endParaRPr lang="en-US" sz="1800" dirty="0"/>
          </a:p>
        </p:txBody>
      </p:sp>
      <p:sp>
        <p:nvSpPr>
          <p:cNvPr id="6" name="Text 4"/>
          <p:cNvSpPr/>
          <p:nvPr/>
        </p:nvSpPr>
        <p:spPr>
          <a:xfrm>
            <a:off x="734200" y="4347270"/>
            <a:ext cx="6790957" cy="1563291"/>
          </a:xfrm>
          <a:prstGeom prst="rect">
            <a:avLst/>
          </a:prstGeom>
          <a:noFill/>
          <a:ln/>
        </p:spPr>
        <p:txBody>
          <a:bodyPr wrap="square" lIns="0" tIns="0" rIns="0" bIns="0" rtlCol="0" anchor="t">
            <a:normAutofit/>
          </a:bodyPr>
          <a:lstStyle/>
          <a:p>
            <a:pPr algn="l" marL="335280" indent="-335280">
              <a:lnSpc>
                <a:spcPct val="133000"/>
              </a:lnSpc>
              <a:buSzPct val="100000"/>
              <a:buChar char="•"/>
            </a:pPr>
            <a:r>
              <a:rPr lang="en-US" sz="1650" dirty="0">
                <a:solidFill>
                  <a:srgbClr val="E0E4E6"/>
                </a:solidFill>
                <a:latin typeface="Barlow" pitchFamily="34" charset="0"/>
                <a:ea typeface="Barlow" pitchFamily="34" charset="-122"/>
                <a:cs typeface="Barlow" pitchFamily="34" charset="-120"/>
              </a:rPr>
              <a:t>Basic calculators </a:t>
            </a:r>
            <a:pPr algn="l" marL="335280" indent="-335280">
              <a:lnSpc>
                <a:spcPct val="133000"/>
              </a:lnSpc>
              <a:buSzPct val="100000"/>
              <a:buChar char="•"/>
            </a:pPr>
            <a:r>
              <a:rPr lang="en-US" sz="1650" b="1" dirty="0">
                <a:solidFill>
                  <a:srgbClr val="E0E4E6"/>
                </a:solidFill>
                <a:latin typeface="Barlow Bold" pitchFamily="34" charset="0"/>
                <a:ea typeface="Barlow Bold" pitchFamily="34" charset="-122"/>
                <a:cs typeface="Barlow Bold" pitchFamily="34" charset="-120"/>
              </a:rPr>
              <a:t>cannot</a:t>
            </a:r>
            <a:pPr algn="l" marL="335280" indent="-335280">
              <a:lnSpc>
                <a:spcPct val="133000"/>
              </a:lnSpc>
              <a:buSzPct val="100000"/>
              <a:buChar char="•"/>
            </a:pPr>
            <a:r>
              <a:rPr lang="en-US" sz="1650" dirty="0">
                <a:solidFill>
                  <a:srgbClr val="E0E4E6"/>
                </a:solidFill>
                <a:latin typeface="Barlow" pitchFamily="34" charset="0"/>
                <a:ea typeface="Barlow" pitchFamily="34" charset="-122"/>
                <a:cs typeface="Barlow" pitchFamily="34" charset="-120"/>
              </a:rPr>
              <a:t> handle negative numbers easily</a:t>
            </a:r>
            <a:endParaRPr lang="en-US" sz="1650" dirty="0"/>
          </a:p>
          <a:p>
            <a:pPr algn="l" marL="335280" indent="-335280">
              <a:lnSpc>
                <a:spcPct val="133000"/>
              </a:lnSpc>
              <a:buSzPct val="100000"/>
              <a:buChar char="•"/>
            </a:pPr>
            <a:r>
              <a:rPr lang="en-US" sz="1650" dirty="0">
                <a:solidFill>
                  <a:srgbClr val="E0E4E6"/>
                </a:solidFill>
                <a:latin typeface="Barlow" pitchFamily="34" charset="0"/>
                <a:ea typeface="Barlow" pitchFamily="34" charset="-122"/>
                <a:cs typeface="Barlow" pitchFamily="34" charset="-120"/>
              </a:rPr>
              <a:t>Microprocessors are too complex for beginners to understand</a:t>
            </a:r>
            <a:endParaRPr lang="en-US" sz="1650" dirty="0"/>
          </a:p>
          <a:p>
            <a:pPr algn="l" marL="335280" indent="-335280">
              <a:lnSpc>
                <a:spcPct val="133000"/>
              </a:lnSpc>
              <a:buSzPct val="100000"/>
              <a:buChar char="•"/>
            </a:pPr>
            <a:r>
              <a:rPr lang="en-US" sz="1650" dirty="0">
                <a:solidFill>
                  <a:srgbClr val="E0E4E6"/>
                </a:solidFill>
                <a:latin typeface="Barlow" pitchFamily="34" charset="0"/>
                <a:ea typeface="Barlow" pitchFamily="34" charset="-122"/>
                <a:cs typeface="Barlow" pitchFamily="34" charset="-120"/>
              </a:rPr>
              <a:t>We need a simple, educational system to learn digital design</a:t>
            </a:r>
            <a:endParaRPr lang="en-US" sz="1650" dirty="0"/>
          </a:p>
          <a:p>
            <a:pPr algn="l" marL="335280" indent="-335280">
              <a:lnSpc>
                <a:spcPct val="133000"/>
              </a:lnSpc>
              <a:buSzPct val="100000"/>
              <a:buChar char="•"/>
            </a:pPr>
            <a:r>
              <a:rPr lang="en-US" sz="1650" dirty="0">
                <a:solidFill>
                  <a:srgbClr val="E0E4E6"/>
                </a:solidFill>
                <a:latin typeface="Barlow" pitchFamily="34" charset="0"/>
                <a:ea typeface="Barlow" pitchFamily="34" charset="-122"/>
                <a:cs typeface="Barlow" pitchFamily="34" charset="-120"/>
              </a:rPr>
              <a:t>To design a </a:t>
            </a:r>
            <a:pPr algn="l" marL="335280" indent="-335280">
              <a:lnSpc>
                <a:spcPct val="133000"/>
              </a:lnSpc>
              <a:buSzPct val="100000"/>
              <a:buChar char="•"/>
            </a:pPr>
            <a:r>
              <a:rPr lang="en-US" sz="1650" b="1" dirty="0">
                <a:solidFill>
                  <a:srgbClr val="E0E4E6"/>
                </a:solidFill>
                <a:latin typeface="Barlow Bold" pitchFamily="34" charset="0"/>
                <a:ea typeface="Barlow Bold" pitchFamily="34" charset="-122"/>
                <a:cs typeface="Barlow Bold" pitchFamily="34" charset="-120"/>
              </a:rPr>
              <a:t>fast and efficient</a:t>
            </a:r>
            <a:pPr algn="l" marL="335280" indent="-335280">
              <a:lnSpc>
                <a:spcPct val="133000"/>
              </a:lnSpc>
              <a:buSzPct val="100000"/>
              <a:buChar char="•"/>
            </a:pPr>
            <a:r>
              <a:rPr lang="en-US" sz="1650" dirty="0">
                <a:solidFill>
                  <a:srgbClr val="E0E4E6"/>
                </a:solidFill>
                <a:latin typeface="Barlow" pitchFamily="34" charset="0"/>
                <a:ea typeface="Barlow" pitchFamily="34" charset="-122"/>
                <a:cs typeface="Barlow" pitchFamily="34" charset="-120"/>
              </a:rPr>
              <a:t> arithmetic system from scratch</a:t>
            </a:r>
            <a:endParaRPr lang="en-US" sz="1650" dirty="0"/>
          </a:p>
        </p:txBody>
      </p:sp>
      <p:pic>
        <p:nvPicPr>
          <p:cNvPr id="7" name="Image 0" descr="preencoded.png">    </p:cNvPr>
          <p:cNvPicPr>
            <a:picLocks noChangeAspect="1"/>
          </p:cNvPicPr>
          <p:nvPr/>
        </p:nvPicPr>
        <p:blipFill>
          <a:blip r:embed="rId1"/>
          <a:stretch>
            <a:fillRect/>
          </a:stretch>
        </p:blipFill>
        <p:spPr>
          <a:xfrm>
            <a:off x="8043264" y="2167334"/>
            <a:ext cx="3420481" cy="342056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34200" y="713780"/>
            <a:ext cx="10723294" cy="407888"/>
          </a:xfrm>
          <a:prstGeom prst="rect">
            <a:avLst/>
          </a:prstGeom>
          <a:noFill/>
          <a:ln/>
        </p:spPr>
        <p:txBody>
          <a:bodyPr wrap="none" lIns="0" tIns="0" rIns="0" bIns="0" rtlCol="0" anchor="t"/>
          <a:lstStyle/>
          <a:p>
            <a:pPr algn="l" indent="0" marL="0">
              <a:lnSpc>
                <a:spcPct val="104000"/>
              </a:lnSpc>
              <a:buNone/>
            </a:pPr>
            <a:r>
              <a:rPr lang="en-US" sz="2550" b="1" dirty="0">
                <a:solidFill>
                  <a:srgbClr val="F0FCFF"/>
                </a:solidFill>
                <a:latin typeface="Spline Sans Bold" pitchFamily="34" charset="0"/>
                <a:ea typeface="Spline Sans Bold" pitchFamily="34" charset="-122"/>
                <a:cs typeface="Spline Sans Bold" pitchFamily="34" charset="-120"/>
              </a:rPr>
              <a:t>Objectives</a:t>
            </a:r>
            <a:endParaRPr lang="en-US" sz="255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34200" y="1327249"/>
            <a:ext cx="10723294" cy="881162"/>
          </a:xfrm>
          <a:prstGeom prst="rect">
            <a:avLst/>
          </a:prstGeom>
        </p:spPr>
      </p:pic>
      <p:sp>
        <p:nvSpPr>
          <p:cNvPr id="4" name="Text 1"/>
          <p:cNvSpPr/>
          <p:nvPr/>
        </p:nvSpPr>
        <p:spPr>
          <a:xfrm>
            <a:off x="930450" y="1630164"/>
            <a:ext cx="220260" cy="275332"/>
          </a:xfrm>
          <a:prstGeom prst="rect">
            <a:avLst/>
          </a:prstGeom>
          <a:noFill/>
          <a:ln/>
        </p:spPr>
        <p:txBody>
          <a:bodyPr wrap="none" lIns="0" tIns="0" rIns="0" bIns="0" rtlCol="0" anchor="ctr"/>
          <a:lstStyle/>
          <a:p>
            <a:pPr algn="ctr" indent="0" marL="0">
              <a:lnSpc>
                <a:spcPct val="100000"/>
              </a:lnSpc>
              <a:buNone/>
            </a:pPr>
            <a:r>
              <a:rPr lang="en-US" sz="1700" b="1" dirty="0">
                <a:solidFill>
                  <a:srgbClr val="E0E4E6"/>
                </a:solidFill>
                <a:latin typeface="Spline Sans Bold" pitchFamily="34" charset="0"/>
                <a:ea typeface="Spline Sans Bold" pitchFamily="34" charset="-122"/>
                <a:cs typeface="Spline Sans Bold" pitchFamily="34" charset="-120"/>
              </a:rPr>
              <a:t>1</a:t>
            </a:r>
            <a:endParaRPr lang="en-US" sz="1700" dirty="0"/>
          </a:p>
        </p:txBody>
      </p:sp>
      <p:sp>
        <p:nvSpPr>
          <p:cNvPr id="5" name="Text 2"/>
          <p:cNvSpPr/>
          <p:nvPr/>
        </p:nvSpPr>
        <p:spPr>
          <a:xfrm>
            <a:off x="1443398" y="1493143"/>
            <a:ext cx="9848207" cy="203994"/>
          </a:xfrm>
          <a:prstGeom prst="rect">
            <a:avLst/>
          </a:prstGeom>
          <a:noFill/>
          <a:ln/>
        </p:spPr>
        <p:txBody>
          <a:bodyPr wrap="none" lIns="0" tIns="0" rIns="0" bIns="0" rtlCol="0" anchor="t"/>
          <a:lstStyle/>
          <a:p>
            <a:pPr algn="l" indent="0" marL="0">
              <a:lnSpc>
                <a:spcPct val="104000"/>
              </a:lnSpc>
              <a:buNone/>
            </a:pPr>
            <a:r>
              <a:rPr lang="en-US" sz="1250" b="1" dirty="0">
                <a:solidFill>
                  <a:srgbClr val="E0E4E6"/>
                </a:solidFill>
                <a:latin typeface="Spline Sans Bold" pitchFamily="34" charset="0"/>
                <a:ea typeface="Spline Sans Bold" pitchFamily="34" charset="-122"/>
                <a:cs typeface="Spline Sans Bold" pitchFamily="34" charset="-120"/>
              </a:rPr>
              <a:t>Design</a:t>
            </a:r>
            <a:endParaRPr lang="en-US" sz="1250" dirty="0"/>
          </a:p>
        </p:txBody>
      </p:sp>
      <p:sp>
        <p:nvSpPr>
          <p:cNvPr id="6" name="Text 3"/>
          <p:cNvSpPr/>
          <p:nvPr/>
        </p:nvSpPr>
        <p:spPr>
          <a:xfrm>
            <a:off x="1443398" y="1758752"/>
            <a:ext cx="9848207" cy="199628"/>
          </a:xfrm>
          <a:prstGeom prst="rect">
            <a:avLst/>
          </a:prstGeom>
          <a:noFill/>
          <a:ln/>
        </p:spPr>
        <p:txBody>
          <a:bodyPr wrap="none" lIns="0" tIns="0" rIns="0" bIns="0" rtlCol="0" anchor="t"/>
          <a:lstStyle/>
          <a:p>
            <a:pPr algn="l" indent="0" marL="0">
              <a:lnSpc>
                <a:spcPct val="113000"/>
              </a:lnSpc>
              <a:buNone/>
            </a:pPr>
            <a:r>
              <a:rPr lang="en-US" sz="1150" dirty="0">
                <a:solidFill>
                  <a:srgbClr val="E0E4E6"/>
                </a:solidFill>
                <a:latin typeface="Barlow" pitchFamily="34" charset="0"/>
                <a:ea typeface="Barlow" pitchFamily="34" charset="-122"/>
                <a:cs typeface="Barlow" pitchFamily="34" charset="-120"/>
              </a:rPr>
              <a:t>Create an 8-bit signed arithmetic unit using logic gates and adders</a:t>
            </a:r>
            <a:endParaRPr lang="en-US" sz="11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4200" y="2311202"/>
            <a:ext cx="10723294" cy="881162"/>
          </a:xfrm>
          <a:prstGeom prst="rect">
            <a:avLst/>
          </a:prstGeom>
        </p:spPr>
      </p:pic>
      <p:sp>
        <p:nvSpPr>
          <p:cNvPr id="8" name="Text 4"/>
          <p:cNvSpPr/>
          <p:nvPr/>
        </p:nvSpPr>
        <p:spPr>
          <a:xfrm>
            <a:off x="930450" y="2614116"/>
            <a:ext cx="220260" cy="275332"/>
          </a:xfrm>
          <a:prstGeom prst="rect">
            <a:avLst/>
          </a:prstGeom>
          <a:noFill/>
          <a:ln/>
        </p:spPr>
        <p:txBody>
          <a:bodyPr wrap="none" lIns="0" tIns="0" rIns="0" bIns="0" rtlCol="0" anchor="ctr"/>
          <a:lstStyle/>
          <a:p>
            <a:pPr algn="ctr" indent="0" marL="0">
              <a:lnSpc>
                <a:spcPct val="100000"/>
              </a:lnSpc>
              <a:buNone/>
            </a:pPr>
            <a:r>
              <a:rPr lang="en-US" sz="1700" b="1" dirty="0">
                <a:solidFill>
                  <a:srgbClr val="E0E4E6"/>
                </a:solidFill>
                <a:latin typeface="Spline Sans Bold" pitchFamily="34" charset="0"/>
                <a:ea typeface="Spline Sans Bold" pitchFamily="34" charset="-122"/>
                <a:cs typeface="Spline Sans Bold" pitchFamily="34" charset="-120"/>
              </a:rPr>
              <a:t>2</a:t>
            </a:r>
            <a:endParaRPr lang="en-US" sz="1700" dirty="0"/>
          </a:p>
        </p:txBody>
      </p:sp>
      <p:sp>
        <p:nvSpPr>
          <p:cNvPr id="9" name="Text 5"/>
          <p:cNvSpPr/>
          <p:nvPr/>
        </p:nvSpPr>
        <p:spPr>
          <a:xfrm>
            <a:off x="1443398" y="2477095"/>
            <a:ext cx="9848207" cy="203994"/>
          </a:xfrm>
          <a:prstGeom prst="rect">
            <a:avLst/>
          </a:prstGeom>
          <a:noFill/>
          <a:ln/>
        </p:spPr>
        <p:txBody>
          <a:bodyPr wrap="none" lIns="0" tIns="0" rIns="0" bIns="0" rtlCol="0" anchor="t"/>
          <a:lstStyle/>
          <a:p>
            <a:pPr algn="l" indent="0" marL="0">
              <a:lnSpc>
                <a:spcPct val="104000"/>
              </a:lnSpc>
              <a:buNone/>
            </a:pPr>
            <a:r>
              <a:rPr lang="en-US" sz="1250" b="1" dirty="0">
                <a:solidFill>
                  <a:srgbClr val="E0E4E6"/>
                </a:solidFill>
                <a:latin typeface="Spline Sans Bold" pitchFamily="34" charset="0"/>
                <a:ea typeface="Spline Sans Bold" pitchFamily="34" charset="-122"/>
                <a:cs typeface="Spline Sans Bold" pitchFamily="34" charset="-120"/>
              </a:rPr>
              <a:t>Implement</a:t>
            </a:r>
            <a:endParaRPr lang="en-US" sz="1250" dirty="0"/>
          </a:p>
        </p:txBody>
      </p:sp>
      <p:sp>
        <p:nvSpPr>
          <p:cNvPr id="10" name="Text 6"/>
          <p:cNvSpPr/>
          <p:nvPr/>
        </p:nvSpPr>
        <p:spPr>
          <a:xfrm>
            <a:off x="1443398" y="2742704"/>
            <a:ext cx="9848207" cy="199628"/>
          </a:xfrm>
          <a:prstGeom prst="rect">
            <a:avLst/>
          </a:prstGeom>
          <a:noFill/>
          <a:ln/>
        </p:spPr>
        <p:txBody>
          <a:bodyPr wrap="none" lIns="0" tIns="0" rIns="0" bIns="0" rtlCol="0" anchor="t"/>
          <a:lstStyle/>
          <a:p>
            <a:pPr algn="l" indent="0" marL="0">
              <a:lnSpc>
                <a:spcPct val="113000"/>
              </a:lnSpc>
              <a:buNone/>
            </a:pPr>
            <a:r>
              <a:rPr lang="en-US" sz="1150" dirty="0">
                <a:solidFill>
                  <a:srgbClr val="E0E4E6"/>
                </a:solidFill>
                <a:latin typeface="Barlow" pitchFamily="34" charset="0"/>
                <a:ea typeface="Barlow" pitchFamily="34" charset="-122"/>
                <a:cs typeface="Barlow" pitchFamily="34" charset="-120"/>
              </a:rPr>
              <a:t>Build the circuit design using digital design tools</a:t>
            </a:r>
            <a:endParaRPr lang="en-US" sz="115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4200" y="3295154"/>
            <a:ext cx="10723294" cy="881162"/>
          </a:xfrm>
          <a:prstGeom prst="rect">
            <a:avLst/>
          </a:prstGeom>
        </p:spPr>
      </p:pic>
      <p:sp>
        <p:nvSpPr>
          <p:cNvPr id="12" name="Text 7"/>
          <p:cNvSpPr/>
          <p:nvPr/>
        </p:nvSpPr>
        <p:spPr>
          <a:xfrm>
            <a:off x="930450" y="3598069"/>
            <a:ext cx="220260" cy="275332"/>
          </a:xfrm>
          <a:prstGeom prst="rect">
            <a:avLst/>
          </a:prstGeom>
          <a:noFill/>
          <a:ln/>
        </p:spPr>
        <p:txBody>
          <a:bodyPr wrap="none" lIns="0" tIns="0" rIns="0" bIns="0" rtlCol="0" anchor="ctr"/>
          <a:lstStyle/>
          <a:p>
            <a:pPr algn="ctr" indent="0" marL="0">
              <a:lnSpc>
                <a:spcPct val="100000"/>
              </a:lnSpc>
              <a:buNone/>
            </a:pPr>
            <a:r>
              <a:rPr lang="en-US" sz="1700" b="1" dirty="0">
                <a:solidFill>
                  <a:srgbClr val="E0E4E6"/>
                </a:solidFill>
                <a:latin typeface="Spline Sans Bold" pitchFamily="34" charset="0"/>
                <a:ea typeface="Spline Sans Bold" pitchFamily="34" charset="-122"/>
                <a:cs typeface="Spline Sans Bold" pitchFamily="34" charset="-120"/>
              </a:rPr>
              <a:t>3</a:t>
            </a:r>
            <a:endParaRPr lang="en-US" sz="1700" dirty="0"/>
          </a:p>
        </p:txBody>
      </p:sp>
      <p:sp>
        <p:nvSpPr>
          <p:cNvPr id="13" name="Text 8"/>
          <p:cNvSpPr/>
          <p:nvPr/>
        </p:nvSpPr>
        <p:spPr>
          <a:xfrm>
            <a:off x="1443398" y="3461048"/>
            <a:ext cx="9848207" cy="203994"/>
          </a:xfrm>
          <a:prstGeom prst="rect">
            <a:avLst/>
          </a:prstGeom>
          <a:noFill/>
          <a:ln/>
        </p:spPr>
        <p:txBody>
          <a:bodyPr wrap="none" lIns="0" tIns="0" rIns="0" bIns="0" rtlCol="0" anchor="t"/>
          <a:lstStyle/>
          <a:p>
            <a:pPr algn="l" indent="0" marL="0">
              <a:lnSpc>
                <a:spcPct val="104000"/>
              </a:lnSpc>
              <a:buNone/>
            </a:pPr>
            <a:r>
              <a:rPr lang="en-US" sz="1250" b="1" dirty="0">
                <a:solidFill>
                  <a:srgbClr val="E0E4E6"/>
                </a:solidFill>
                <a:latin typeface="Spline Sans Bold" pitchFamily="34" charset="0"/>
                <a:ea typeface="Spline Sans Bold" pitchFamily="34" charset="-122"/>
                <a:cs typeface="Spline Sans Bold" pitchFamily="34" charset="-120"/>
              </a:rPr>
              <a:t>Simulate</a:t>
            </a:r>
            <a:endParaRPr lang="en-US" sz="1250" dirty="0"/>
          </a:p>
        </p:txBody>
      </p:sp>
      <p:sp>
        <p:nvSpPr>
          <p:cNvPr id="14" name="Text 9"/>
          <p:cNvSpPr/>
          <p:nvPr/>
        </p:nvSpPr>
        <p:spPr>
          <a:xfrm>
            <a:off x="1443398" y="3726656"/>
            <a:ext cx="9848207" cy="199628"/>
          </a:xfrm>
          <a:prstGeom prst="rect">
            <a:avLst/>
          </a:prstGeom>
          <a:noFill/>
          <a:ln/>
        </p:spPr>
        <p:txBody>
          <a:bodyPr wrap="none" lIns="0" tIns="0" rIns="0" bIns="0" rtlCol="0" anchor="t"/>
          <a:lstStyle/>
          <a:p>
            <a:pPr algn="l" indent="0" marL="0">
              <a:lnSpc>
                <a:spcPct val="113000"/>
              </a:lnSpc>
              <a:buNone/>
            </a:pPr>
            <a:r>
              <a:rPr lang="en-US" sz="1150" dirty="0">
                <a:solidFill>
                  <a:srgbClr val="E0E4E6"/>
                </a:solidFill>
                <a:latin typeface="Barlow" pitchFamily="34" charset="0"/>
                <a:ea typeface="Barlow" pitchFamily="34" charset="-122"/>
                <a:cs typeface="Barlow" pitchFamily="34" charset="-120"/>
              </a:rPr>
              <a:t>Test the system using computer simulation software</a:t>
            </a:r>
            <a:endParaRPr lang="en-US" sz="1150" dirty="0"/>
          </a:p>
        </p:txBody>
      </p:sp>
      <p:pic>
        <p:nvPicPr>
          <p:cNvPr id="1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34200" y="4279106"/>
            <a:ext cx="10723294" cy="881162"/>
          </a:xfrm>
          <a:prstGeom prst="rect">
            <a:avLst/>
          </a:prstGeom>
        </p:spPr>
      </p:pic>
      <p:sp>
        <p:nvSpPr>
          <p:cNvPr id="16" name="Text 10"/>
          <p:cNvSpPr/>
          <p:nvPr/>
        </p:nvSpPr>
        <p:spPr>
          <a:xfrm>
            <a:off x="930450" y="4582021"/>
            <a:ext cx="220260" cy="275332"/>
          </a:xfrm>
          <a:prstGeom prst="rect">
            <a:avLst/>
          </a:prstGeom>
          <a:noFill/>
          <a:ln/>
        </p:spPr>
        <p:txBody>
          <a:bodyPr wrap="none" lIns="0" tIns="0" rIns="0" bIns="0" rtlCol="0" anchor="ctr"/>
          <a:lstStyle/>
          <a:p>
            <a:pPr algn="ctr" indent="0" marL="0">
              <a:lnSpc>
                <a:spcPct val="100000"/>
              </a:lnSpc>
              <a:buNone/>
            </a:pPr>
            <a:r>
              <a:rPr lang="en-US" sz="1700" b="1" dirty="0">
                <a:solidFill>
                  <a:srgbClr val="E0E4E6"/>
                </a:solidFill>
                <a:latin typeface="Spline Sans Bold" pitchFamily="34" charset="0"/>
                <a:ea typeface="Spline Sans Bold" pitchFamily="34" charset="-122"/>
                <a:cs typeface="Spline Sans Bold" pitchFamily="34" charset="-120"/>
              </a:rPr>
              <a:t>4</a:t>
            </a:r>
            <a:endParaRPr lang="en-US" sz="1700" dirty="0"/>
          </a:p>
        </p:txBody>
      </p:sp>
      <p:sp>
        <p:nvSpPr>
          <p:cNvPr id="17" name="Text 11"/>
          <p:cNvSpPr/>
          <p:nvPr/>
        </p:nvSpPr>
        <p:spPr>
          <a:xfrm>
            <a:off x="1443398" y="4445000"/>
            <a:ext cx="9848207" cy="203994"/>
          </a:xfrm>
          <a:prstGeom prst="rect">
            <a:avLst/>
          </a:prstGeom>
          <a:noFill/>
          <a:ln/>
        </p:spPr>
        <p:txBody>
          <a:bodyPr wrap="none" lIns="0" tIns="0" rIns="0" bIns="0" rtlCol="0" anchor="t"/>
          <a:lstStyle/>
          <a:p>
            <a:pPr algn="l" indent="0" marL="0">
              <a:lnSpc>
                <a:spcPct val="104000"/>
              </a:lnSpc>
              <a:buNone/>
            </a:pPr>
            <a:r>
              <a:rPr lang="en-US" sz="1250" b="1" dirty="0">
                <a:solidFill>
                  <a:srgbClr val="E0E4E6"/>
                </a:solidFill>
                <a:latin typeface="Spline Sans Bold" pitchFamily="34" charset="0"/>
                <a:ea typeface="Spline Sans Bold" pitchFamily="34" charset="-122"/>
                <a:cs typeface="Spline Sans Bold" pitchFamily="34" charset="-120"/>
              </a:rPr>
              <a:t>Verify</a:t>
            </a:r>
            <a:endParaRPr lang="en-US" sz="1250" dirty="0"/>
          </a:p>
        </p:txBody>
      </p:sp>
      <p:sp>
        <p:nvSpPr>
          <p:cNvPr id="18" name="Text 12"/>
          <p:cNvSpPr/>
          <p:nvPr/>
        </p:nvSpPr>
        <p:spPr>
          <a:xfrm>
            <a:off x="1443398" y="4710609"/>
            <a:ext cx="9848207" cy="199628"/>
          </a:xfrm>
          <a:prstGeom prst="rect">
            <a:avLst/>
          </a:prstGeom>
          <a:noFill/>
          <a:ln/>
        </p:spPr>
        <p:txBody>
          <a:bodyPr wrap="none" lIns="0" tIns="0" rIns="0" bIns="0" rtlCol="0" anchor="t"/>
          <a:lstStyle/>
          <a:p>
            <a:pPr algn="l" indent="0" marL="0">
              <a:lnSpc>
                <a:spcPct val="113000"/>
              </a:lnSpc>
              <a:buNone/>
            </a:pPr>
            <a:r>
              <a:rPr lang="en-US" sz="1150" dirty="0">
                <a:solidFill>
                  <a:srgbClr val="E0E4E6"/>
                </a:solidFill>
                <a:latin typeface="Barlow" pitchFamily="34" charset="0"/>
                <a:ea typeface="Barlow" pitchFamily="34" charset="-122"/>
                <a:cs typeface="Barlow" pitchFamily="34" charset="-120"/>
              </a:rPr>
              <a:t>Check that the system works correctly for all test cases</a:t>
            </a:r>
            <a:endParaRPr lang="en-US" sz="1150" dirty="0"/>
          </a:p>
        </p:txBody>
      </p:sp>
      <p:pic>
        <p:nvPicPr>
          <p:cNvPr id="19"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34200" y="5263059"/>
            <a:ext cx="10723294" cy="881162"/>
          </a:xfrm>
          <a:prstGeom prst="rect">
            <a:avLst/>
          </a:prstGeom>
        </p:spPr>
      </p:pic>
      <p:sp>
        <p:nvSpPr>
          <p:cNvPr id="20" name="Text 13"/>
          <p:cNvSpPr/>
          <p:nvPr/>
        </p:nvSpPr>
        <p:spPr>
          <a:xfrm>
            <a:off x="930450" y="5565973"/>
            <a:ext cx="220260" cy="275332"/>
          </a:xfrm>
          <a:prstGeom prst="rect">
            <a:avLst/>
          </a:prstGeom>
          <a:noFill/>
          <a:ln/>
        </p:spPr>
        <p:txBody>
          <a:bodyPr wrap="none" lIns="0" tIns="0" rIns="0" bIns="0" rtlCol="0" anchor="ctr"/>
          <a:lstStyle/>
          <a:p>
            <a:pPr algn="ctr" indent="0" marL="0">
              <a:lnSpc>
                <a:spcPct val="100000"/>
              </a:lnSpc>
              <a:buNone/>
            </a:pPr>
            <a:r>
              <a:rPr lang="en-US" sz="1700" b="1" dirty="0">
                <a:solidFill>
                  <a:srgbClr val="E0E4E6"/>
                </a:solidFill>
                <a:latin typeface="Spline Sans Bold" pitchFamily="34" charset="0"/>
                <a:ea typeface="Spline Sans Bold" pitchFamily="34" charset="-122"/>
                <a:cs typeface="Spline Sans Bold" pitchFamily="34" charset="-120"/>
              </a:rPr>
              <a:t>5</a:t>
            </a:r>
            <a:endParaRPr lang="en-US" sz="1700" dirty="0"/>
          </a:p>
        </p:txBody>
      </p:sp>
      <p:sp>
        <p:nvSpPr>
          <p:cNvPr id="21" name="Text 14"/>
          <p:cNvSpPr/>
          <p:nvPr/>
        </p:nvSpPr>
        <p:spPr>
          <a:xfrm>
            <a:off x="1443398" y="5428952"/>
            <a:ext cx="9848207" cy="203994"/>
          </a:xfrm>
          <a:prstGeom prst="rect">
            <a:avLst/>
          </a:prstGeom>
          <a:noFill/>
          <a:ln/>
        </p:spPr>
        <p:txBody>
          <a:bodyPr wrap="none" lIns="0" tIns="0" rIns="0" bIns="0" rtlCol="0" anchor="t"/>
          <a:lstStyle/>
          <a:p>
            <a:pPr algn="l" indent="0" marL="0">
              <a:lnSpc>
                <a:spcPct val="104000"/>
              </a:lnSpc>
              <a:buNone/>
            </a:pPr>
            <a:r>
              <a:rPr lang="en-US" sz="1250" b="1" dirty="0">
                <a:solidFill>
                  <a:srgbClr val="E0E4E6"/>
                </a:solidFill>
                <a:latin typeface="Spline Sans Bold" pitchFamily="34" charset="0"/>
                <a:ea typeface="Spline Sans Bold" pitchFamily="34" charset="-122"/>
                <a:cs typeface="Spline Sans Bold" pitchFamily="34" charset="-120"/>
              </a:rPr>
              <a:t>Document</a:t>
            </a:r>
            <a:endParaRPr lang="en-US" sz="1250" dirty="0"/>
          </a:p>
        </p:txBody>
      </p:sp>
      <p:sp>
        <p:nvSpPr>
          <p:cNvPr id="22" name="Text 15"/>
          <p:cNvSpPr/>
          <p:nvPr/>
        </p:nvSpPr>
        <p:spPr>
          <a:xfrm>
            <a:off x="1443398" y="5694561"/>
            <a:ext cx="9848207" cy="199628"/>
          </a:xfrm>
          <a:prstGeom prst="rect">
            <a:avLst/>
          </a:prstGeom>
          <a:noFill/>
          <a:ln/>
        </p:spPr>
        <p:txBody>
          <a:bodyPr wrap="none" lIns="0" tIns="0" rIns="0" bIns="0" rtlCol="0" anchor="t"/>
          <a:lstStyle/>
          <a:p>
            <a:pPr algn="l" indent="0" marL="0">
              <a:lnSpc>
                <a:spcPct val="113000"/>
              </a:lnSpc>
              <a:buNone/>
            </a:pPr>
            <a:r>
              <a:rPr lang="en-US" sz="1150" dirty="0">
                <a:solidFill>
                  <a:srgbClr val="E0E4E6"/>
                </a:solidFill>
                <a:latin typeface="Barlow" pitchFamily="34" charset="0"/>
                <a:ea typeface="Barlow" pitchFamily="34" charset="-122"/>
                <a:cs typeface="Barlow" pitchFamily="34" charset="-120"/>
              </a:rPr>
              <a:t>Write clear explanations so anyone can understand the project</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34200" y="710902"/>
            <a:ext cx="10723294" cy="495300"/>
          </a:xfrm>
          <a:prstGeom prst="rect">
            <a:avLst/>
          </a:prstGeom>
          <a:noFill/>
          <a:ln/>
        </p:spPr>
        <p:txBody>
          <a:bodyPr wrap="none" lIns="0" tIns="0" rIns="0" bIns="0" rtlCol="0" anchor="t"/>
          <a:lstStyle/>
          <a:p>
            <a:pPr algn="l" indent="0" marL="0">
              <a:lnSpc>
                <a:spcPct val="104000"/>
              </a:lnSpc>
              <a:buNone/>
            </a:pPr>
            <a:r>
              <a:rPr lang="en-US" sz="3100" b="1" dirty="0">
                <a:solidFill>
                  <a:srgbClr val="F0FCFF"/>
                </a:solidFill>
                <a:latin typeface="Spline Sans Bold" pitchFamily="34" charset="0"/>
                <a:ea typeface="Spline Sans Bold" pitchFamily="34" charset="-122"/>
                <a:cs typeface="Spline Sans Bold" pitchFamily="34" charset="-120"/>
              </a:rPr>
              <a:t>Literature Survey &amp; Existing Systems</a:t>
            </a:r>
            <a:endParaRPr lang="en-US" sz="3100" dirty="0"/>
          </a:p>
        </p:txBody>
      </p:sp>
      <p:pic>
        <p:nvPicPr>
          <p:cNvPr id="3" name="Image 0" descr="preencoded.png">    </p:cNvPr>
          <p:cNvPicPr>
            <a:picLocks noChangeAspect="1"/>
          </p:cNvPicPr>
          <p:nvPr/>
        </p:nvPicPr>
        <p:blipFill>
          <a:blip r:embed="rId1"/>
          <a:stretch>
            <a:fillRect/>
          </a:stretch>
        </p:blipFill>
        <p:spPr>
          <a:xfrm>
            <a:off x="1120052" y="1603970"/>
            <a:ext cx="4372461" cy="4372570"/>
          </a:xfrm>
          <a:prstGeom prst="rect">
            <a:avLst/>
          </a:prstGeom>
        </p:spPr>
      </p:pic>
      <p:sp>
        <p:nvSpPr>
          <p:cNvPr id="4" name="Text 1"/>
          <p:cNvSpPr/>
          <p:nvPr/>
        </p:nvSpPr>
        <p:spPr>
          <a:xfrm>
            <a:off x="6319679" y="2467173"/>
            <a:ext cx="5144165" cy="247650"/>
          </a:xfrm>
          <a:prstGeom prst="rect">
            <a:avLst/>
          </a:prstGeom>
          <a:noFill/>
          <a:ln/>
        </p:spPr>
        <p:txBody>
          <a:bodyPr wrap="none" lIns="0" tIns="0" rIns="0" bIns="0" rtlCol="0" anchor="t"/>
          <a:lstStyle/>
          <a:p>
            <a:pPr algn="l" indent="0" marL="0">
              <a:lnSpc>
                <a:spcPct val="104000"/>
              </a:lnSpc>
              <a:buNone/>
            </a:pPr>
            <a:r>
              <a:rPr lang="en-US" sz="1550" b="1" dirty="0">
                <a:solidFill>
                  <a:srgbClr val="F0FCFF"/>
                </a:solidFill>
                <a:latin typeface="Spline Sans Bold" pitchFamily="34" charset="0"/>
                <a:ea typeface="Spline Sans Bold" pitchFamily="34" charset="-122"/>
                <a:cs typeface="Spline Sans Bold" pitchFamily="34" charset="-120"/>
              </a:rPr>
              <a:t>What Makes Our Project Different?</a:t>
            </a:r>
            <a:endParaRPr lang="en-US" sz="1550" dirty="0"/>
          </a:p>
        </p:txBody>
      </p:sp>
      <p:sp>
        <p:nvSpPr>
          <p:cNvPr id="5" name="Text 2"/>
          <p:cNvSpPr/>
          <p:nvPr/>
        </p:nvSpPr>
        <p:spPr>
          <a:xfrm>
            <a:off x="6319679" y="2866330"/>
            <a:ext cx="5144165" cy="1214239"/>
          </a:xfrm>
          <a:prstGeom prst="rect">
            <a:avLst/>
          </a:prstGeom>
          <a:noFill/>
          <a:ln/>
        </p:spPr>
        <p:txBody>
          <a:bodyPr wrap="square" lIns="0" tIns="0" rIns="0" bIns="0" rtlCol="0" anchor="t">
            <a:normAutofit/>
          </a:bodyPr>
          <a:lstStyle/>
          <a:p>
            <a:pPr algn="l" marL="284480" indent="-284480">
              <a:lnSpc>
                <a:spcPct val="123000"/>
              </a:lnSpc>
              <a:buSzPct val="100000"/>
              <a:buChar char="•"/>
            </a:pPr>
            <a:r>
              <a:rPr lang="en-US" sz="1400" dirty="0">
                <a:solidFill>
                  <a:srgbClr val="E0E4E6"/>
                </a:solidFill>
                <a:latin typeface="Barlow" pitchFamily="34" charset="0"/>
                <a:ea typeface="Barlow" pitchFamily="34" charset="-122"/>
                <a:cs typeface="Barlow" pitchFamily="34" charset="-120"/>
              </a:rPr>
              <a:t>Handles </a:t>
            </a:r>
            <a:pPr algn="l" marL="284480" indent="-284480">
              <a:lnSpc>
                <a:spcPct val="123000"/>
              </a:lnSpc>
              <a:buSzPct val="100000"/>
              <a:buChar char="•"/>
            </a:pPr>
            <a:r>
              <a:rPr lang="en-US" sz="1400" b="1" dirty="0">
                <a:solidFill>
                  <a:srgbClr val="E0E4E6"/>
                </a:solidFill>
                <a:latin typeface="Barlow Bold" pitchFamily="34" charset="0"/>
                <a:ea typeface="Barlow Bold" pitchFamily="34" charset="-122"/>
                <a:cs typeface="Barlow Bold" pitchFamily="34" charset="-120"/>
              </a:rPr>
              <a:t>both positive and negative</a:t>
            </a:r>
            <a:pPr algn="l" marL="284480" indent="-284480">
              <a:lnSpc>
                <a:spcPct val="123000"/>
              </a:lnSpc>
              <a:buSzPct val="100000"/>
              <a:buChar char="•"/>
            </a:pPr>
            <a:r>
              <a:rPr lang="en-US" sz="1400" dirty="0">
                <a:solidFill>
                  <a:srgbClr val="E0E4E6"/>
                </a:solidFill>
                <a:latin typeface="Barlow" pitchFamily="34" charset="0"/>
                <a:ea typeface="Barlow" pitchFamily="34" charset="-122"/>
                <a:cs typeface="Barlow" pitchFamily="34" charset="-120"/>
              </a:rPr>
              <a:t> numbers</a:t>
            </a:r>
            <a:endParaRPr lang="en-US" sz="1400" dirty="0"/>
          </a:p>
          <a:p>
            <a:pPr algn="l" marL="284480" indent="-284480">
              <a:lnSpc>
                <a:spcPct val="123000"/>
              </a:lnSpc>
              <a:buSzPct val="100000"/>
              <a:buChar char="•"/>
            </a:pPr>
            <a:r>
              <a:rPr lang="en-US" sz="1400" dirty="0">
                <a:solidFill>
                  <a:srgbClr val="E0E4E6"/>
                </a:solidFill>
                <a:latin typeface="Barlow" pitchFamily="34" charset="0"/>
                <a:ea typeface="Barlow" pitchFamily="34" charset="-122"/>
                <a:cs typeface="Barlow" pitchFamily="34" charset="-120"/>
              </a:rPr>
              <a:t>Simpler than microprocessors — easy to understand</a:t>
            </a:r>
            <a:endParaRPr lang="en-US" sz="1400" dirty="0"/>
          </a:p>
          <a:p>
            <a:pPr algn="l" marL="284480" indent="-284480">
              <a:lnSpc>
                <a:spcPct val="123000"/>
              </a:lnSpc>
              <a:buSzPct val="100000"/>
              <a:buChar char="•"/>
            </a:pPr>
            <a:r>
              <a:rPr lang="en-US" sz="1400" dirty="0">
                <a:solidFill>
                  <a:srgbClr val="E0E4E6"/>
                </a:solidFill>
                <a:latin typeface="Barlow" pitchFamily="34" charset="0"/>
                <a:ea typeface="Barlow" pitchFamily="34" charset="-122"/>
                <a:cs typeface="Barlow" pitchFamily="34" charset="-120"/>
              </a:rPr>
              <a:t>Fast and efficient operation</a:t>
            </a:r>
            <a:endParaRPr lang="en-US" sz="1400" dirty="0"/>
          </a:p>
          <a:p>
            <a:pPr algn="l" marL="284480" indent="-284480">
              <a:lnSpc>
                <a:spcPct val="123000"/>
              </a:lnSpc>
              <a:buSzPct val="100000"/>
              <a:buChar char="•"/>
            </a:pPr>
            <a:r>
              <a:rPr lang="en-US" sz="1400" b="1" dirty="0">
                <a:solidFill>
                  <a:srgbClr val="E0E4E6"/>
                </a:solidFill>
                <a:latin typeface="Barlow Bold" pitchFamily="34" charset="0"/>
                <a:ea typeface="Barlow Bold" pitchFamily="34" charset="-122"/>
                <a:cs typeface="Barlow Bold" pitchFamily="34" charset="-120"/>
              </a:rPr>
              <a:t>Perfect for learning</a:t>
            </a:r>
            <a:pPr algn="l" marL="284480" indent="-284480">
              <a:lnSpc>
                <a:spcPct val="123000"/>
              </a:lnSpc>
              <a:buSzPct val="100000"/>
              <a:buChar char="•"/>
            </a:pPr>
            <a:r>
              <a:rPr lang="en-US" sz="1400" dirty="0">
                <a:solidFill>
                  <a:srgbClr val="E0E4E6"/>
                </a:solidFill>
                <a:latin typeface="Barlow" pitchFamily="34" charset="0"/>
                <a:ea typeface="Barlow" pitchFamily="34" charset="-122"/>
                <a:cs typeface="Barlow" pitchFamily="34" charset="-120"/>
              </a:rPr>
              <a:t> digital design basics</a:t>
            </a:r>
            <a:endParaRPr lang="en-US" sz="1400" dirty="0"/>
          </a:p>
        </p:txBody>
      </p:sp>
      <p:sp>
        <p:nvSpPr>
          <p:cNvPr id="6" name="Text 3"/>
          <p:cNvSpPr/>
          <p:nvPr/>
        </p:nvSpPr>
        <p:spPr>
          <a:xfrm>
            <a:off x="6319679" y="4232077"/>
            <a:ext cx="5144165" cy="247650"/>
          </a:xfrm>
          <a:prstGeom prst="rect">
            <a:avLst/>
          </a:prstGeom>
          <a:noFill/>
          <a:ln/>
        </p:spPr>
        <p:txBody>
          <a:bodyPr wrap="none" lIns="0" tIns="0" rIns="0" bIns="0" rtlCol="0" anchor="t"/>
          <a:lstStyle/>
          <a:p>
            <a:pPr algn="l" indent="0" marL="0">
              <a:lnSpc>
                <a:spcPct val="104000"/>
              </a:lnSpc>
              <a:buNone/>
            </a:pPr>
            <a:r>
              <a:rPr lang="en-US" sz="1550" b="1" dirty="0">
                <a:solidFill>
                  <a:srgbClr val="F0FCFF"/>
                </a:solidFill>
                <a:latin typeface="Spline Sans Bold" pitchFamily="34" charset="0"/>
                <a:ea typeface="Spline Sans Bold" pitchFamily="34" charset="-122"/>
                <a:cs typeface="Spline Sans Bold" pitchFamily="34" charset="-120"/>
              </a:rPr>
              <a:t>Gap We Are Filling</a:t>
            </a:r>
            <a:endParaRPr lang="en-US" sz="1550" dirty="0"/>
          </a:p>
        </p:txBody>
      </p:sp>
      <p:sp>
        <p:nvSpPr>
          <p:cNvPr id="7" name="Text 4"/>
          <p:cNvSpPr/>
          <p:nvPr/>
        </p:nvSpPr>
        <p:spPr>
          <a:xfrm>
            <a:off x="6319679" y="4631234"/>
            <a:ext cx="5144165" cy="580628"/>
          </a:xfrm>
          <a:prstGeom prst="rect">
            <a:avLst/>
          </a:prstGeom>
          <a:noFill/>
          <a:ln/>
        </p:spPr>
        <p:txBody>
          <a:bodyPr wrap="square" lIns="0" tIns="0" rIns="0" bIns="0" rtlCol="0" anchor="t">
            <a:normAutofit/>
          </a:bodyPr>
          <a:lstStyle/>
          <a:p>
            <a:pPr algn="l" marL="284480" indent="-284480">
              <a:lnSpc>
                <a:spcPct val="123000"/>
              </a:lnSpc>
              <a:buSzPct val="100000"/>
              <a:buChar char="•"/>
            </a:pPr>
            <a:r>
              <a:rPr lang="en-US" sz="1400" dirty="0">
                <a:solidFill>
                  <a:srgbClr val="E0E4E6"/>
                </a:solidFill>
                <a:latin typeface="Barlow" pitchFamily="34" charset="0"/>
                <a:ea typeface="Barlow" pitchFamily="34" charset="-122"/>
                <a:cs typeface="Barlow" pitchFamily="34" charset="-120"/>
              </a:rPr>
              <a:t>No simple educational system existed to learn from</a:t>
            </a:r>
            <a:endParaRPr lang="en-US" sz="1400" dirty="0"/>
          </a:p>
          <a:p>
            <a:pPr algn="l" marL="284480" indent="-284480">
              <a:lnSpc>
                <a:spcPct val="123000"/>
              </a:lnSpc>
              <a:buSzPct val="100000"/>
              <a:buChar char="•"/>
            </a:pPr>
            <a:r>
              <a:rPr lang="en-US" sz="1400" dirty="0">
                <a:solidFill>
                  <a:srgbClr val="E0E4E6"/>
                </a:solidFill>
                <a:latin typeface="Barlow" pitchFamily="34" charset="0"/>
                <a:ea typeface="Barlow" pitchFamily="34" charset="-122"/>
                <a:cs typeface="Barlow" pitchFamily="34" charset="-120"/>
              </a:rPr>
              <a:t>We bridge the gap between basic adders and complex CPUs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34200" y="870843"/>
            <a:ext cx="10723294" cy="553641"/>
          </a:xfrm>
          <a:prstGeom prst="rect">
            <a:avLst/>
          </a:prstGeom>
          <a:noFill/>
          <a:ln/>
        </p:spPr>
        <p:txBody>
          <a:bodyPr wrap="none" lIns="0" tIns="0" rIns="0" bIns="0" rtlCol="0" anchor="t"/>
          <a:lstStyle/>
          <a:p>
            <a:pPr algn="l" indent="0" marL="0">
              <a:lnSpc>
                <a:spcPct val="104000"/>
              </a:lnSpc>
              <a:buNone/>
            </a:pPr>
            <a:r>
              <a:rPr lang="en-US" sz="3450" b="1" dirty="0">
                <a:solidFill>
                  <a:srgbClr val="F0FCFF"/>
                </a:solidFill>
                <a:latin typeface="Spline Sans Bold" pitchFamily="34" charset="0"/>
                <a:ea typeface="Spline Sans Bold" pitchFamily="34" charset="-122"/>
                <a:cs typeface="Spline Sans Bold" pitchFamily="34" charset="-120"/>
              </a:rPr>
              <a:t>Overview &amp; What is 8-Bit ?</a:t>
            </a:r>
            <a:endParaRPr lang="en-US" sz="345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34200" y="1803102"/>
            <a:ext cx="498264" cy="498277"/>
          </a:xfrm>
          <a:prstGeom prst="rect">
            <a:avLst/>
          </a:prstGeom>
        </p:spPr>
      </p:pic>
      <p:sp>
        <p:nvSpPr>
          <p:cNvPr id="4" name="Text 1"/>
          <p:cNvSpPr/>
          <p:nvPr/>
        </p:nvSpPr>
        <p:spPr>
          <a:xfrm>
            <a:off x="734200" y="2538016"/>
            <a:ext cx="5243282" cy="276820"/>
          </a:xfrm>
          <a:prstGeom prst="rect">
            <a:avLst/>
          </a:prstGeom>
          <a:noFill/>
          <a:ln/>
        </p:spPr>
        <p:txBody>
          <a:bodyPr wrap="none" lIns="0" tIns="0" rIns="0" bIns="0" rtlCol="0" anchor="t"/>
          <a:lstStyle/>
          <a:p>
            <a:pPr algn="l" indent="0" marL="0">
              <a:lnSpc>
                <a:spcPct val="104000"/>
              </a:lnSpc>
              <a:buNone/>
            </a:pPr>
            <a:r>
              <a:rPr lang="en-US" sz="1700" b="1" dirty="0">
                <a:solidFill>
                  <a:srgbClr val="E0E4E6"/>
                </a:solidFill>
                <a:latin typeface="Spline Sans Bold" pitchFamily="34" charset="0"/>
                <a:ea typeface="Spline Sans Bold" pitchFamily="34" charset="-122"/>
                <a:cs typeface="Spline Sans Bold" pitchFamily="34" charset="-120"/>
              </a:rPr>
              <a:t>Arithmetic Unit</a:t>
            </a:r>
            <a:endParaRPr lang="en-US" sz="1700" dirty="0"/>
          </a:p>
        </p:txBody>
      </p:sp>
      <p:sp>
        <p:nvSpPr>
          <p:cNvPr id="5" name="Text 2"/>
          <p:cNvSpPr/>
          <p:nvPr/>
        </p:nvSpPr>
        <p:spPr>
          <a:xfrm>
            <a:off x="734200" y="2928441"/>
            <a:ext cx="5243282" cy="621903"/>
          </a:xfrm>
          <a:prstGeom prst="rect">
            <a:avLst/>
          </a:prstGeom>
          <a:noFill/>
          <a:ln/>
        </p:spPr>
        <p:txBody>
          <a:bodyPr wrap="square" lIns="0" tIns="0" rIns="0" bIns="0" rtlCol="0" anchor="t">
            <a:normAutofit/>
          </a:bodyPr>
          <a:lstStyle/>
          <a:p>
            <a:pPr algn="l" indent="0" marL="0">
              <a:lnSpc>
                <a:spcPct val="130000"/>
              </a:lnSpc>
              <a:buNone/>
            </a:pPr>
            <a:r>
              <a:rPr lang="en-US" sz="1550" dirty="0">
                <a:solidFill>
                  <a:srgbClr val="E0E4E6"/>
                </a:solidFill>
                <a:latin typeface="Barlow" pitchFamily="34" charset="0"/>
                <a:ea typeface="Barlow" pitchFamily="34" charset="-122"/>
                <a:cs typeface="Barlow" pitchFamily="34" charset="-120"/>
              </a:rPr>
              <a:t>A small system that does basic math — addition and subtraction. Found inside </a:t>
            </a:r>
            <a:pPr algn="l" indent="0" marL="0">
              <a:lnSpc>
                <a:spcPct val="130000"/>
              </a:lnSpc>
              <a:buNone/>
            </a:pPr>
            <a:r>
              <a:rPr lang="en-US" sz="1550" b="1" dirty="0">
                <a:solidFill>
                  <a:srgbClr val="E0E4E6"/>
                </a:solidFill>
                <a:latin typeface="Barlow Bold" pitchFamily="34" charset="0"/>
                <a:ea typeface="Barlow Bold" pitchFamily="34" charset="-122"/>
                <a:cs typeface="Barlow Bold" pitchFamily="34" charset="-120"/>
              </a:rPr>
              <a:t>every computer and calculator</a:t>
            </a:r>
            <a:pPr algn="l" indent="0" marL="0">
              <a:lnSpc>
                <a:spcPct val="130000"/>
              </a:lnSpc>
              <a:buNone/>
            </a:pPr>
            <a:r>
              <a:rPr lang="en-US" sz="1550" dirty="0">
                <a:solidFill>
                  <a:srgbClr val="E0E4E6"/>
                </a:solidFill>
                <a:latin typeface="Barlow" pitchFamily="34" charset="0"/>
                <a:ea typeface="Barlow" pitchFamily="34" charset="-122"/>
                <a:cs typeface="Barlow" pitchFamily="34" charset="-120"/>
              </a:rPr>
              <a:t>.</a:t>
            </a:r>
            <a:endParaRPr lang="en-US" sz="15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14113" y="1803102"/>
            <a:ext cx="498264" cy="498277"/>
          </a:xfrm>
          <a:prstGeom prst="rect">
            <a:avLst/>
          </a:prstGeom>
        </p:spPr>
      </p:pic>
      <p:sp>
        <p:nvSpPr>
          <p:cNvPr id="7" name="Text 3"/>
          <p:cNvSpPr/>
          <p:nvPr/>
        </p:nvSpPr>
        <p:spPr>
          <a:xfrm>
            <a:off x="6214113" y="2538016"/>
            <a:ext cx="5243381" cy="276820"/>
          </a:xfrm>
          <a:prstGeom prst="rect">
            <a:avLst/>
          </a:prstGeom>
          <a:noFill/>
          <a:ln/>
        </p:spPr>
        <p:txBody>
          <a:bodyPr wrap="none" lIns="0" tIns="0" rIns="0" bIns="0" rtlCol="0" anchor="t"/>
          <a:lstStyle/>
          <a:p>
            <a:pPr algn="l" indent="0" marL="0">
              <a:lnSpc>
                <a:spcPct val="104000"/>
              </a:lnSpc>
              <a:buNone/>
            </a:pPr>
            <a:r>
              <a:rPr lang="en-US" sz="1700" b="1" dirty="0">
                <a:solidFill>
                  <a:srgbClr val="E0E4E6"/>
                </a:solidFill>
                <a:latin typeface="Spline Sans Bold" pitchFamily="34" charset="0"/>
                <a:ea typeface="Spline Sans Bold" pitchFamily="34" charset="-122"/>
                <a:cs typeface="Spline Sans Bold" pitchFamily="34" charset="-120"/>
              </a:rPr>
              <a:t>8-Bit Means</a:t>
            </a:r>
            <a:endParaRPr lang="en-US" sz="1700" dirty="0"/>
          </a:p>
        </p:txBody>
      </p:sp>
      <p:sp>
        <p:nvSpPr>
          <p:cNvPr id="8" name="Text 4"/>
          <p:cNvSpPr/>
          <p:nvPr/>
        </p:nvSpPr>
        <p:spPr>
          <a:xfrm>
            <a:off x="6214113" y="2928441"/>
            <a:ext cx="5243381" cy="621903"/>
          </a:xfrm>
          <a:prstGeom prst="rect">
            <a:avLst/>
          </a:prstGeom>
          <a:noFill/>
          <a:ln/>
        </p:spPr>
        <p:txBody>
          <a:bodyPr wrap="square" lIns="0" tIns="0" rIns="0" bIns="0" rtlCol="0" anchor="t">
            <a:normAutofit/>
          </a:bodyPr>
          <a:lstStyle/>
          <a:p>
            <a:pPr algn="l" indent="0" marL="0">
              <a:lnSpc>
                <a:spcPct val="130000"/>
              </a:lnSpc>
              <a:buNone/>
            </a:pPr>
            <a:r>
              <a:rPr lang="en-US" sz="1550" dirty="0">
                <a:solidFill>
                  <a:srgbClr val="E0E4E6"/>
                </a:solidFill>
                <a:latin typeface="Barlow" pitchFamily="34" charset="0"/>
                <a:ea typeface="Barlow" pitchFamily="34" charset="-122"/>
                <a:cs typeface="Barlow" pitchFamily="34" charset="-120"/>
              </a:rPr>
              <a:t>Works with </a:t>
            </a:r>
            <a:pPr algn="l" indent="0" marL="0">
              <a:lnSpc>
                <a:spcPct val="130000"/>
              </a:lnSpc>
              <a:buNone/>
            </a:pPr>
            <a:r>
              <a:rPr lang="en-US" sz="1550" b="1" dirty="0">
                <a:solidFill>
                  <a:srgbClr val="E0E4E6"/>
                </a:solidFill>
                <a:latin typeface="Barlow Bold" pitchFamily="34" charset="0"/>
                <a:ea typeface="Barlow Bold" pitchFamily="34" charset="-122"/>
                <a:cs typeface="Barlow Bold" pitchFamily="34" charset="-120"/>
              </a:rPr>
              <a:t>8 binary digits</a:t>
            </a:r>
            <a:pPr algn="l" indent="0" marL="0">
              <a:lnSpc>
                <a:spcPct val="130000"/>
              </a:lnSpc>
              <a:buNone/>
            </a:pPr>
            <a:r>
              <a:rPr lang="en-US" sz="1550" dirty="0">
                <a:solidFill>
                  <a:srgbClr val="E0E4E6"/>
                </a:solidFill>
                <a:latin typeface="Barlow" pitchFamily="34" charset="0"/>
                <a:ea typeface="Barlow" pitchFamily="34" charset="-122"/>
                <a:cs typeface="Barlow" pitchFamily="34" charset="-120"/>
              </a:rPr>
              <a:t> (0s and 1s). Handles numbers from </a:t>
            </a:r>
            <a:pPr algn="l" indent="0" marL="0">
              <a:lnSpc>
                <a:spcPct val="130000"/>
              </a:lnSpc>
              <a:buNone/>
            </a:pPr>
            <a:r>
              <a:rPr lang="en-US" sz="1550" b="1" dirty="0">
                <a:solidFill>
                  <a:srgbClr val="E0E4E6"/>
                </a:solidFill>
                <a:latin typeface="Barlow Bold" pitchFamily="34" charset="0"/>
                <a:ea typeface="Barlow Bold" pitchFamily="34" charset="-122"/>
                <a:cs typeface="Barlow Bold" pitchFamily="34" charset="-120"/>
              </a:rPr>
              <a:t>−128 to +127</a:t>
            </a:r>
            <a:pPr algn="l" indent="0" marL="0">
              <a:lnSpc>
                <a:spcPct val="130000"/>
              </a:lnSpc>
              <a:buNone/>
            </a:pPr>
            <a:r>
              <a:rPr lang="en-US" sz="1550" dirty="0">
                <a:solidFill>
                  <a:srgbClr val="E0E4E6"/>
                </a:solidFill>
                <a:latin typeface="Barlow" pitchFamily="34" charset="0"/>
                <a:ea typeface="Barlow" pitchFamily="34" charset="-122"/>
                <a:cs typeface="Barlow" pitchFamily="34" charset="-120"/>
              </a:rPr>
              <a:t>.</a:t>
            </a:r>
            <a:endParaRPr lang="en-US" sz="155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4200" y="3928963"/>
            <a:ext cx="498264" cy="498277"/>
          </a:xfrm>
          <a:prstGeom prst="rect">
            <a:avLst/>
          </a:prstGeom>
        </p:spPr>
      </p:pic>
      <p:sp>
        <p:nvSpPr>
          <p:cNvPr id="10" name="Text 5"/>
          <p:cNvSpPr/>
          <p:nvPr/>
        </p:nvSpPr>
        <p:spPr>
          <a:xfrm>
            <a:off x="734200" y="4663877"/>
            <a:ext cx="5243282" cy="276820"/>
          </a:xfrm>
          <a:prstGeom prst="rect">
            <a:avLst/>
          </a:prstGeom>
          <a:noFill/>
          <a:ln/>
        </p:spPr>
        <p:txBody>
          <a:bodyPr wrap="none" lIns="0" tIns="0" rIns="0" bIns="0" rtlCol="0" anchor="t"/>
          <a:lstStyle/>
          <a:p>
            <a:pPr algn="l" indent="0" marL="0">
              <a:lnSpc>
                <a:spcPct val="104000"/>
              </a:lnSpc>
              <a:buNone/>
            </a:pPr>
            <a:r>
              <a:rPr lang="en-US" sz="1700" b="1" dirty="0">
                <a:solidFill>
                  <a:srgbClr val="E0E4E6"/>
                </a:solidFill>
                <a:latin typeface="Spline Sans Bold" pitchFamily="34" charset="0"/>
                <a:ea typeface="Spline Sans Bold" pitchFamily="34" charset="-122"/>
                <a:cs typeface="Spline Sans Bold" pitchFamily="34" charset="-120"/>
              </a:rPr>
              <a:t>Signed Numbers</a:t>
            </a:r>
            <a:endParaRPr lang="en-US" sz="1700" dirty="0"/>
          </a:p>
        </p:txBody>
      </p:sp>
      <p:sp>
        <p:nvSpPr>
          <p:cNvPr id="11" name="Text 6"/>
          <p:cNvSpPr/>
          <p:nvPr/>
        </p:nvSpPr>
        <p:spPr>
          <a:xfrm>
            <a:off x="734200" y="5054302"/>
            <a:ext cx="5243282" cy="932855"/>
          </a:xfrm>
          <a:prstGeom prst="rect">
            <a:avLst/>
          </a:prstGeom>
          <a:noFill/>
          <a:ln/>
        </p:spPr>
        <p:txBody>
          <a:bodyPr wrap="square" lIns="0" tIns="0" rIns="0" bIns="0" rtlCol="0" anchor="t">
            <a:normAutofit/>
          </a:bodyPr>
          <a:lstStyle/>
          <a:p>
            <a:pPr algn="l" indent="0" marL="0">
              <a:lnSpc>
                <a:spcPct val="130000"/>
              </a:lnSpc>
              <a:buNone/>
            </a:pPr>
            <a:r>
              <a:rPr lang="en-US" sz="1550" b="1" dirty="0">
                <a:solidFill>
                  <a:srgbClr val="E0E4E6"/>
                </a:solidFill>
                <a:latin typeface="Barlow Bold" pitchFamily="34" charset="0"/>
                <a:ea typeface="Barlow Bold" pitchFamily="34" charset="-122"/>
                <a:cs typeface="Barlow Bold" pitchFamily="34" charset="-120"/>
              </a:rPr>
              <a:t>Positive:</a:t>
            </a:r>
            <a:pPr algn="l" indent="0" marL="0">
              <a:lnSpc>
                <a:spcPct val="130000"/>
              </a:lnSpc>
              <a:buNone/>
            </a:pPr>
            <a:r>
              <a:rPr lang="en-US" sz="1550" dirty="0">
                <a:solidFill>
                  <a:srgbClr val="E0E4E6"/>
                </a:solidFill>
                <a:latin typeface="Barlow" pitchFamily="34" charset="0"/>
                <a:ea typeface="Barlow" pitchFamily="34" charset="-122"/>
                <a:cs typeface="Barlow" pitchFamily="34" charset="-120"/>
              </a:rPr>
              <a:t> 0 to 127</a:t>
            </a:r>
            <a:endParaRPr lang="en-US" sz="1550" dirty="0"/>
          </a:p>
          <a:p>
            <a:pPr algn="l" indent="0" marL="0">
              <a:lnSpc>
                <a:spcPct val="130000"/>
              </a:lnSpc>
              <a:buNone/>
            </a:pPr>
            <a:r>
              <a:rPr lang="en-US" sz="1550" b="1" dirty="0">
                <a:solidFill>
                  <a:srgbClr val="E0E4E6"/>
                </a:solidFill>
                <a:latin typeface="Barlow Bold" pitchFamily="34" charset="0"/>
                <a:ea typeface="Barlow Bold" pitchFamily="34" charset="-122"/>
                <a:cs typeface="Barlow Bold" pitchFamily="34" charset="-120"/>
              </a:rPr>
              <a:t>Negative:</a:t>
            </a:r>
            <a:pPr algn="l" indent="0" marL="0">
              <a:lnSpc>
                <a:spcPct val="130000"/>
              </a:lnSpc>
              <a:buNone/>
            </a:pPr>
            <a:r>
              <a:rPr lang="en-US" sz="1550" dirty="0">
                <a:solidFill>
                  <a:srgbClr val="E0E4E6"/>
                </a:solidFill>
                <a:latin typeface="Barlow" pitchFamily="34" charset="0"/>
                <a:ea typeface="Barlow" pitchFamily="34" charset="-122"/>
                <a:cs typeface="Barlow" pitchFamily="34" charset="-120"/>
              </a:rPr>
              <a:t> −1 to −128</a:t>
            </a:r>
            <a:endParaRPr lang="en-US" sz="1550" dirty="0"/>
          </a:p>
          <a:p>
            <a:pPr algn="l" indent="0" marL="0">
              <a:lnSpc>
                <a:spcPct val="130000"/>
              </a:lnSpc>
              <a:buNone/>
            </a:pPr>
            <a:r>
              <a:rPr lang="en-US" sz="1550" dirty="0">
                <a:solidFill>
                  <a:srgbClr val="E0E4E6"/>
                </a:solidFill>
                <a:latin typeface="Barlow" pitchFamily="34" charset="0"/>
                <a:ea typeface="Barlow" pitchFamily="34" charset="-122"/>
                <a:cs typeface="Barlow" pitchFamily="34" charset="-120"/>
              </a:rPr>
              <a:t>Handled using Two's Complement method.</a:t>
            </a:r>
            <a:endParaRPr lang="en-US" sz="155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14113" y="3928963"/>
            <a:ext cx="498264" cy="498277"/>
          </a:xfrm>
          <a:prstGeom prst="rect">
            <a:avLst/>
          </a:prstGeom>
        </p:spPr>
      </p:pic>
      <p:sp>
        <p:nvSpPr>
          <p:cNvPr id="13" name="Text 7"/>
          <p:cNvSpPr/>
          <p:nvPr/>
        </p:nvSpPr>
        <p:spPr>
          <a:xfrm>
            <a:off x="6214113" y="4663877"/>
            <a:ext cx="5243381" cy="276820"/>
          </a:xfrm>
          <a:prstGeom prst="rect">
            <a:avLst/>
          </a:prstGeom>
          <a:noFill/>
          <a:ln/>
        </p:spPr>
        <p:txBody>
          <a:bodyPr wrap="none" lIns="0" tIns="0" rIns="0" bIns="0" rtlCol="0" anchor="t"/>
          <a:lstStyle/>
          <a:p>
            <a:pPr algn="l" indent="0" marL="0">
              <a:lnSpc>
                <a:spcPct val="104000"/>
              </a:lnSpc>
              <a:buNone/>
            </a:pPr>
            <a:r>
              <a:rPr lang="en-US" sz="1700" b="1" dirty="0">
                <a:solidFill>
                  <a:srgbClr val="E0E4E6"/>
                </a:solidFill>
                <a:latin typeface="Spline Sans Bold" pitchFamily="34" charset="0"/>
                <a:ea typeface="Spline Sans Bold" pitchFamily="34" charset="-122"/>
                <a:cs typeface="Spline Sans Bold" pitchFamily="34" charset="-120"/>
              </a:rPr>
              <a:t>Project Aim</a:t>
            </a:r>
            <a:endParaRPr lang="en-US" sz="1700" dirty="0"/>
          </a:p>
        </p:txBody>
      </p:sp>
      <p:sp>
        <p:nvSpPr>
          <p:cNvPr id="14" name="Text 8"/>
          <p:cNvSpPr/>
          <p:nvPr/>
        </p:nvSpPr>
        <p:spPr>
          <a:xfrm>
            <a:off x="6214113" y="5054302"/>
            <a:ext cx="5243381" cy="621903"/>
          </a:xfrm>
          <a:prstGeom prst="rect">
            <a:avLst/>
          </a:prstGeom>
          <a:noFill/>
          <a:ln/>
        </p:spPr>
        <p:txBody>
          <a:bodyPr wrap="square" lIns="0" tIns="0" rIns="0" bIns="0" rtlCol="0" anchor="t">
            <a:normAutofit/>
          </a:bodyPr>
          <a:lstStyle/>
          <a:p>
            <a:pPr algn="l" indent="0" marL="0">
              <a:lnSpc>
                <a:spcPct val="130000"/>
              </a:lnSpc>
              <a:buNone/>
            </a:pPr>
            <a:r>
              <a:rPr lang="en-US" sz="1550" dirty="0">
                <a:solidFill>
                  <a:srgbClr val="E0E4E6"/>
                </a:solidFill>
                <a:latin typeface="Barlow" pitchFamily="34" charset="0"/>
                <a:ea typeface="Barlow" pitchFamily="34" charset="-122"/>
                <a:cs typeface="Barlow" pitchFamily="34" charset="-120"/>
              </a:rPr>
              <a:t>Design, simulate, and verify an arithmetic unit that adds and subtracts 8-bit signed numbers.</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34200" y="605036"/>
            <a:ext cx="10723294" cy="437059"/>
          </a:xfrm>
          <a:prstGeom prst="rect">
            <a:avLst/>
          </a:prstGeom>
          <a:noFill/>
          <a:ln/>
        </p:spPr>
        <p:txBody>
          <a:bodyPr wrap="none" lIns="0" tIns="0" rIns="0" bIns="0" rtlCol="0" anchor="t"/>
          <a:lstStyle/>
          <a:p>
            <a:pPr algn="l" indent="0" marL="0">
              <a:lnSpc>
                <a:spcPct val="104000"/>
              </a:lnSpc>
              <a:buNone/>
            </a:pPr>
            <a:r>
              <a:rPr lang="en-US" sz="2750" b="1" dirty="0">
                <a:solidFill>
                  <a:srgbClr val="F0FCFF"/>
                </a:solidFill>
                <a:latin typeface="Spline Sans Bold" pitchFamily="34" charset="0"/>
                <a:ea typeface="Spline Sans Bold" pitchFamily="34" charset="-122"/>
                <a:cs typeface="Spline Sans Bold" pitchFamily="34" charset="-120"/>
              </a:rPr>
              <a:t>System Architecture &amp; Block Diagram</a:t>
            </a:r>
            <a:endParaRPr lang="en-US" sz="2750" dirty="0"/>
          </a:p>
        </p:txBody>
      </p:sp>
      <p:pic>
        <p:nvPicPr>
          <p:cNvPr id="3" name="Image 0" descr="preencoded.png">    </p:cNvPr>
          <p:cNvPicPr>
            <a:picLocks noChangeAspect="1"/>
          </p:cNvPicPr>
          <p:nvPr/>
        </p:nvPicPr>
        <p:blipFill>
          <a:blip r:embed="rId1"/>
          <a:stretch>
            <a:fillRect/>
          </a:stretch>
        </p:blipFill>
        <p:spPr>
          <a:xfrm>
            <a:off x="1588651" y="2630587"/>
            <a:ext cx="5126802" cy="2210792"/>
          </a:xfrm>
          <a:prstGeom prst="rect">
            <a:avLst/>
          </a:prstGeom>
        </p:spPr>
      </p:pic>
      <p:sp>
        <p:nvSpPr>
          <p:cNvPr id="4" name="Text 1"/>
          <p:cNvSpPr/>
          <p:nvPr/>
        </p:nvSpPr>
        <p:spPr>
          <a:xfrm>
            <a:off x="1933690" y="4430207"/>
            <a:ext cx="1033838" cy="129233"/>
          </a:xfrm>
          <a:prstGeom prst="rect">
            <a:avLst/>
          </a:prstGeom>
          <a:noFill/>
          <a:ln/>
        </p:spPr>
        <p:txBody>
          <a:bodyPr wrap="none" lIns="0" tIns="0" rIns="0" bIns="0" rtlCol="0" anchor="t"/>
          <a:lstStyle/>
          <a:p>
            <a:pPr algn="l" indent="0" marL="0">
              <a:lnSpc>
                <a:spcPct val="104000"/>
              </a:lnSpc>
              <a:buNone/>
            </a:pPr>
            <a:r>
              <a:rPr lang="en-US" sz="800" b="1" dirty="0">
                <a:solidFill>
                  <a:srgbClr val="000000"/>
                </a:solidFill>
                <a:latin typeface="Spline Sans Bold" pitchFamily="34" charset="0"/>
                <a:ea typeface="Spline Sans Bold" pitchFamily="34" charset="-122"/>
                <a:cs typeface="Spline Sans Bold" pitchFamily="34" charset="-120"/>
              </a:rPr>
              <a:t>Output Module</a:t>
            </a:r>
            <a:endParaRPr lang="en-US" sz="800" dirty="0"/>
          </a:p>
        </p:txBody>
      </p:sp>
      <p:sp>
        <p:nvSpPr>
          <p:cNvPr id="5" name="Text 2"/>
          <p:cNvSpPr/>
          <p:nvPr/>
        </p:nvSpPr>
        <p:spPr>
          <a:xfrm>
            <a:off x="1933690" y="3918445"/>
            <a:ext cx="1033838" cy="129233"/>
          </a:xfrm>
          <a:prstGeom prst="rect">
            <a:avLst/>
          </a:prstGeom>
          <a:noFill/>
          <a:ln/>
        </p:spPr>
        <p:txBody>
          <a:bodyPr wrap="none" lIns="0" tIns="0" rIns="0" bIns="0" rtlCol="0" anchor="t"/>
          <a:lstStyle/>
          <a:p>
            <a:pPr algn="l" indent="0" marL="0">
              <a:lnSpc>
                <a:spcPct val="104000"/>
              </a:lnSpc>
              <a:buNone/>
            </a:pPr>
            <a:r>
              <a:rPr lang="en-US" sz="800" b="1" dirty="0">
                <a:solidFill>
                  <a:srgbClr val="000000"/>
                </a:solidFill>
                <a:latin typeface="Spline Sans Bold" pitchFamily="34" charset="0"/>
                <a:ea typeface="Spline Sans Bold" pitchFamily="34" charset="-122"/>
                <a:cs typeface="Spline Sans Bold" pitchFamily="34" charset="-120"/>
              </a:rPr>
              <a:t>ALU Processing</a:t>
            </a:r>
            <a:endParaRPr lang="en-US" sz="800" dirty="0"/>
          </a:p>
        </p:txBody>
      </p:sp>
      <p:sp>
        <p:nvSpPr>
          <p:cNvPr id="6" name="Text 3"/>
          <p:cNvSpPr/>
          <p:nvPr/>
        </p:nvSpPr>
        <p:spPr>
          <a:xfrm>
            <a:off x="1933690" y="3411851"/>
            <a:ext cx="1033838" cy="129233"/>
          </a:xfrm>
          <a:prstGeom prst="rect">
            <a:avLst/>
          </a:prstGeom>
          <a:noFill/>
          <a:ln/>
        </p:spPr>
        <p:txBody>
          <a:bodyPr wrap="none" lIns="0" tIns="0" rIns="0" bIns="0" rtlCol="0" anchor="t"/>
          <a:lstStyle/>
          <a:p>
            <a:pPr algn="l" indent="0" marL="0">
              <a:lnSpc>
                <a:spcPct val="104000"/>
              </a:lnSpc>
              <a:buNone/>
            </a:pPr>
            <a:r>
              <a:rPr lang="en-US" sz="800" b="1" dirty="0">
                <a:solidFill>
                  <a:srgbClr val="000000"/>
                </a:solidFill>
                <a:latin typeface="Spline Sans Bold" pitchFamily="34" charset="0"/>
                <a:ea typeface="Spline Sans Bold" pitchFamily="34" charset="-122"/>
                <a:cs typeface="Spline Sans Bold" pitchFamily="34" charset="-120"/>
              </a:rPr>
              <a:t>Control Unit</a:t>
            </a:r>
            <a:endParaRPr lang="en-US" sz="800" dirty="0"/>
          </a:p>
        </p:txBody>
      </p:sp>
      <p:sp>
        <p:nvSpPr>
          <p:cNvPr id="7" name="Text 4"/>
          <p:cNvSpPr/>
          <p:nvPr/>
        </p:nvSpPr>
        <p:spPr>
          <a:xfrm>
            <a:off x="1933690" y="2900088"/>
            <a:ext cx="1033838" cy="129233"/>
          </a:xfrm>
          <a:prstGeom prst="rect">
            <a:avLst/>
          </a:prstGeom>
          <a:noFill/>
          <a:ln/>
        </p:spPr>
        <p:txBody>
          <a:bodyPr wrap="none" lIns="0" tIns="0" rIns="0" bIns="0" rtlCol="0" anchor="t"/>
          <a:lstStyle/>
          <a:p>
            <a:pPr algn="l" indent="0" marL="0">
              <a:lnSpc>
                <a:spcPct val="104000"/>
              </a:lnSpc>
              <a:buNone/>
            </a:pPr>
            <a:r>
              <a:rPr lang="en-US" sz="800" b="1" dirty="0">
                <a:solidFill>
                  <a:srgbClr val="000000"/>
                </a:solidFill>
                <a:latin typeface="Spline Sans Bold" pitchFamily="34" charset="0"/>
                <a:ea typeface="Spline Sans Bold" pitchFamily="34" charset="-122"/>
                <a:cs typeface="Spline Sans Bold" pitchFamily="34" charset="-120"/>
              </a:rPr>
              <a:t>Input Module</a:t>
            </a:r>
            <a:endParaRPr lang="en-US" sz="800" dirty="0"/>
          </a:p>
        </p:txBody>
      </p:sp>
      <p:sp>
        <p:nvSpPr>
          <p:cNvPr id="8" name="Text 5"/>
          <p:cNvSpPr/>
          <p:nvPr/>
        </p:nvSpPr>
        <p:spPr>
          <a:xfrm>
            <a:off x="7960121" y="1337072"/>
            <a:ext cx="3503624" cy="218480"/>
          </a:xfrm>
          <a:prstGeom prst="rect">
            <a:avLst/>
          </a:prstGeom>
          <a:noFill/>
          <a:ln/>
        </p:spPr>
        <p:txBody>
          <a:bodyPr wrap="none" lIns="0" tIns="0" rIns="0" bIns="0" rtlCol="0" anchor="t"/>
          <a:lstStyle/>
          <a:p>
            <a:pPr algn="l" indent="0" marL="0">
              <a:lnSpc>
                <a:spcPct val="104000"/>
              </a:lnSpc>
              <a:buNone/>
            </a:pPr>
            <a:r>
              <a:rPr lang="en-US" sz="1350" b="1" dirty="0">
                <a:solidFill>
                  <a:srgbClr val="F0FCFF"/>
                </a:solidFill>
                <a:latin typeface="Spline Sans Bold" pitchFamily="34" charset="0"/>
                <a:ea typeface="Spline Sans Bold" pitchFamily="34" charset="-122"/>
                <a:cs typeface="Spline Sans Bold" pitchFamily="34" charset="-120"/>
              </a:rPr>
              <a:t>Main Components</a:t>
            </a:r>
            <a:endParaRPr lang="en-US" sz="1350" dirty="0"/>
          </a:p>
        </p:txBody>
      </p:sp>
      <p:pic>
        <p:nvPicPr>
          <p:cNvPr id="9"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960121" y="1688306"/>
            <a:ext cx="3503624" cy="1129605"/>
          </a:xfrm>
          <a:prstGeom prst="rect">
            <a:avLst/>
          </a:prstGeom>
        </p:spPr>
      </p:pic>
      <p:sp>
        <p:nvSpPr>
          <p:cNvPr id="10" name="Text 6"/>
          <p:cNvSpPr/>
          <p:nvPr/>
        </p:nvSpPr>
        <p:spPr>
          <a:xfrm>
            <a:off x="8212627" y="1864618"/>
            <a:ext cx="3074811" cy="218480"/>
          </a:xfrm>
          <a:prstGeom prst="rect">
            <a:avLst/>
          </a:prstGeom>
          <a:noFill/>
          <a:ln/>
        </p:spPr>
        <p:txBody>
          <a:bodyPr wrap="none" lIns="0" tIns="0" rIns="0" bIns="0" rtlCol="0" anchor="t"/>
          <a:lstStyle/>
          <a:p>
            <a:pPr algn="l" indent="0" marL="0">
              <a:lnSpc>
                <a:spcPct val="104000"/>
              </a:lnSpc>
              <a:buNone/>
            </a:pPr>
            <a:r>
              <a:rPr lang="en-US" sz="1350" b="1" dirty="0">
                <a:solidFill>
                  <a:srgbClr val="E0E4E6"/>
                </a:solidFill>
                <a:latin typeface="Spline Sans Bold" pitchFamily="34" charset="0"/>
                <a:ea typeface="Spline Sans Bold" pitchFamily="34" charset="-122"/>
                <a:cs typeface="Spline Sans Bold" pitchFamily="34" charset="-120"/>
              </a:rPr>
              <a:t>Input Module</a:t>
            </a:r>
            <a:endParaRPr lang="en-US" sz="1350" dirty="0"/>
          </a:p>
        </p:txBody>
      </p:sp>
      <p:sp>
        <p:nvSpPr>
          <p:cNvPr id="11" name="Text 7"/>
          <p:cNvSpPr/>
          <p:nvPr/>
        </p:nvSpPr>
        <p:spPr>
          <a:xfrm>
            <a:off x="8212627" y="2201069"/>
            <a:ext cx="3074811" cy="440531"/>
          </a:xfrm>
          <a:prstGeom prst="rect">
            <a:avLst/>
          </a:prstGeom>
          <a:noFill/>
          <a:ln/>
        </p:spPr>
        <p:txBody>
          <a:bodyPr wrap="square" lIns="0" tIns="0" rIns="0" bIns="0" rtlCol="0" anchor="t">
            <a:normAutofit/>
          </a:bodyPr>
          <a:lstStyle/>
          <a:p>
            <a:pPr algn="l" indent="0" marL="0">
              <a:lnSpc>
                <a:spcPct val="117000"/>
              </a:lnSpc>
              <a:buNone/>
            </a:pPr>
            <a:r>
              <a:rPr lang="en-US" sz="1200" dirty="0">
                <a:solidFill>
                  <a:srgbClr val="E0E4E6"/>
                </a:solidFill>
                <a:latin typeface="Barlow" pitchFamily="34" charset="0"/>
                <a:ea typeface="Barlow" pitchFamily="34" charset="-122"/>
                <a:cs typeface="Barlow" pitchFamily="34" charset="-120"/>
              </a:rPr>
              <a:t>Receives two 8-bit numbers and operation selection</a:t>
            </a:r>
            <a:endParaRPr lang="en-US" sz="1200" dirty="0"/>
          </a:p>
        </p:txBody>
      </p:sp>
      <p:pic>
        <p:nvPicPr>
          <p:cNvPr id="12"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960121" y="2935883"/>
            <a:ext cx="3503624" cy="909340"/>
          </a:xfrm>
          <a:prstGeom prst="rect">
            <a:avLst/>
          </a:prstGeom>
        </p:spPr>
      </p:pic>
      <p:sp>
        <p:nvSpPr>
          <p:cNvPr id="13" name="Text 8"/>
          <p:cNvSpPr/>
          <p:nvPr/>
        </p:nvSpPr>
        <p:spPr>
          <a:xfrm>
            <a:off x="8212627" y="3112195"/>
            <a:ext cx="3074811" cy="218480"/>
          </a:xfrm>
          <a:prstGeom prst="rect">
            <a:avLst/>
          </a:prstGeom>
          <a:noFill/>
          <a:ln/>
        </p:spPr>
        <p:txBody>
          <a:bodyPr wrap="none" lIns="0" tIns="0" rIns="0" bIns="0" rtlCol="0" anchor="t"/>
          <a:lstStyle/>
          <a:p>
            <a:pPr algn="l" indent="0" marL="0">
              <a:lnSpc>
                <a:spcPct val="104000"/>
              </a:lnSpc>
              <a:buNone/>
            </a:pPr>
            <a:r>
              <a:rPr lang="en-US" sz="1350" b="1" dirty="0">
                <a:solidFill>
                  <a:srgbClr val="E0E4E6"/>
                </a:solidFill>
                <a:latin typeface="Spline Sans Bold" pitchFamily="34" charset="0"/>
                <a:ea typeface="Spline Sans Bold" pitchFamily="34" charset="-122"/>
                <a:cs typeface="Spline Sans Bold" pitchFamily="34" charset="-120"/>
              </a:rPr>
              <a:t>Control Unit</a:t>
            </a:r>
            <a:endParaRPr lang="en-US" sz="1350" dirty="0"/>
          </a:p>
        </p:txBody>
      </p:sp>
      <p:sp>
        <p:nvSpPr>
          <p:cNvPr id="14" name="Text 9"/>
          <p:cNvSpPr/>
          <p:nvPr/>
        </p:nvSpPr>
        <p:spPr>
          <a:xfrm>
            <a:off x="8212627" y="3448645"/>
            <a:ext cx="3074811" cy="220266"/>
          </a:xfrm>
          <a:prstGeom prst="rect">
            <a:avLst/>
          </a:prstGeom>
          <a:noFill/>
          <a:ln/>
        </p:spPr>
        <p:txBody>
          <a:bodyPr wrap="none" lIns="0" tIns="0" rIns="0" bIns="0" rtlCol="0" anchor="t"/>
          <a:lstStyle/>
          <a:p>
            <a:pPr algn="l" indent="0" marL="0">
              <a:lnSpc>
                <a:spcPct val="117000"/>
              </a:lnSpc>
              <a:buNone/>
            </a:pPr>
            <a:r>
              <a:rPr lang="en-US" sz="1200" dirty="0">
                <a:solidFill>
                  <a:srgbClr val="E0E4E6"/>
                </a:solidFill>
                <a:latin typeface="Barlow" pitchFamily="34" charset="0"/>
                <a:ea typeface="Barlow" pitchFamily="34" charset="-122"/>
                <a:cs typeface="Barlow" pitchFamily="34" charset="-120"/>
              </a:rPr>
              <a:t>Decides whether to add or subtract</a:t>
            </a:r>
            <a:endParaRPr lang="en-US" sz="1200" dirty="0"/>
          </a:p>
        </p:txBody>
      </p:sp>
      <p:pic>
        <p:nvPicPr>
          <p:cNvPr id="15"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960121" y="3963194"/>
            <a:ext cx="3503624" cy="1129605"/>
          </a:xfrm>
          <a:prstGeom prst="rect">
            <a:avLst/>
          </a:prstGeom>
        </p:spPr>
      </p:pic>
      <p:sp>
        <p:nvSpPr>
          <p:cNvPr id="16" name="Text 10"/>
          <p:cNvSpPr/>
          <p:nvPr/>
        </p:nvSpPr>
        <p:spPr>
          <a:xfrm>
            <a:off x="8212627" y="4139505"/>
            <a:ext cx="3074811" cy="218480"/>
          </a:xfrm>
          <a:prstGeom prst="rect">
            <a:avLst/>
          </a:prstGeom>
          <a:noFill/>
          <a:ln/>
        </p:spPr>
        <p:txBody>
          <a:bodyPr wrap="none" lIns="0" tIns="0" rIns="0" bIns="0" rtlCol="0" anchor="t"/>
          <a:lstStyle/>
          <a:p>
            <a:pPr algn="l" indent="0" marL="0">
              <a:lnSpc>
                <a:spcPct val="104000"/>
              </a:lnSpc>
              <a:buNone/>
            </a:pPr>
            <a:r>
              <a:rPr lang="en-US" sz="1350" b="1" dirty="0">
                <a:solidFill>
                  <a:srgbClr val="E0E4E6"/>
                </a:solidFill>
                <a:latin typeface="Spline Sans Bold" pitchFamily="34" charset="0"/>
                <a:ea typeface="Spline Sans Bold" pitchFamily="34" charset="-122"/>
                <a:cs typeface="Spline Sans Bold" pitchFamily="34" charset="-120"/>
              </a:rPr>
              <a:t>ALU</a:t>
            </a:r>
            <a:endParaRPr lang="en-US" sz="1350" dirty="0"/>
          </a:p>
        </p:txBody>
      </p:sp>
      <p:sp>
        <p:nvSpPr>
          <p:cNvPr id="17" name="Text 11"/>
          <p:cNvSpPr/>
          <p:nvPr/>
        </p:nvSpPr>
        <p:spPr>
          <a:xfrm>
            <a:off x="8212627" y="4475956"/>
            <a:ext cx="3074811" cy="440531"/>
          </a:xfrm>
          <a:prstGeom prst="rect">
            <a:avLst/>
          </a:prstGeom>
          <a:noFill/>
          <a:ln/>
        </p:spPr>
        <p:txBody>
          <a:bodyPr wrap="square" lIns="0" tIns="0" rIns="0" bIns="0" rtlCol="0" anchor="t">
            <a:normAutofit/>
          </a:bodyPr>
          <a:lstStyle/>
          <a:p>
            <a:pPr algn="l" indent="0" marL="0">
              <a:lnSpc>
                <a:spcPct val="117000"/>
              </a:lnSpc>
              <a:buNone/>
            </a:pPr>
            <a:r>
              <a:rPr lang="en-US" sz="1200" dirty="0">
                <a:solidFill>
                  <a:srgbClr val="E0E4E6"/>
                </a:solidFill>
                <a:latin typeface="Barlow" pitchFamily="34" charset="0"/>
                <a:ea typeface="Barlow" pitchFamily="34" charset="-122"/>
                <a:cs typeface="Barlow" pitchFamily="34" charset="-120"/>
              </a:rPr>
              <a:t>Uses adders &amp; logic gates to process numbers</a:t>
            </a:r>
            <a:endParaRPr lang="en-US" sz="1200" dirty="0"/>
          </a:p>
        </p:txBody>
      </p:sp>
      <p:pic>
        <p:nvPicPr>
          <p:cNvPr id="18"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960121" y="5210770"/>
            <a:ext cx="3503624" cy="909340"/>
          </a:xfrm>
          <a:prstGeom prst="rect">
            <a:avLst/>
          </a:prstGeom>
        </p:spPr>
      </p:pic>
      <p:sp>
        <p:nvSpPr>
          <p:cNvPr id="19" name="Text 12"/>
          <p:cNvSpPr/>
          <p:nvPr/>
        </p:nvSpPr>
        <p:spPr>
          <a:xfrm>
            <a:off x="8212627" y="5387082"/>
            <a:ext cx="3074811" cy="218480"/>
          </a:xfrm>
          <a:prstGeom prst="rect">
            <a:avLst/>
          </a:prstGeom>
          <a:noFill/>
          <a:ln/>
        </p:spPr>
        <p:txBody>
          <a:bodyPr wrap="none" lIns="0" tIns="0" rIns="0" bIns="0" rtlCol="0" anchor="t"/>
          <a:lstStyle/>
          <a:p>
            <a:pPr algn="l" indent="0" marL="0">
              <a:lnSpc>
                <a:spcPct val="104000"/>
              </a:lnSpc>
              <a:buNone/>
            </a:pPr>
            <a:r>
              <a:rPr lang="en-US" sz="1350" b="1" dirty="0">
                <a:solidFill>
                  <a:srgbClr val="E0E4E6"/>
                </a:solidFill>
                <a:latin typeface="Spline Sans Bold" pitchFamily="34" charset="0"/>
                <a:ea typeface="Spline Sans Bold" pitchFamily="34" charset="-122"/>
                <a:cs typeface="Spline Sans Bold" pitchFamily="34" charset="-120"/>
              </a:rPr>
              <a:t>Output Module</a:t>
            </a:r>
            <a:endParaRPr lang="en-US" sz="1350" dirty="0"/>
          </a:p>
        </p:txBody>
      </p:sp>
      <p:sp>
        <p:nvSpPr>
          <p:cNvPr id="20" name="Text 13"/>
          <p:cNvSpPr/>
          <p:nvPr/>
        </p:nvSpPr>
        <p:spPr>
          <a:xfrm>
            <a:off x="8212627" y="5723533"/>
            <a:ext cx="3074811" cy="220266"/>
          </a:xfrm>
          <a:prstGeom prst="rect">
            <a:avLst/>
          </a:prstGeom>
          <a:noFill/>
          <a:ln/>
        </p:spPr>
        <p:txBody>
          <a:bodyPr wrap="none" lIns="0" tIns="0" rIns="0" bIns="0" rtlCol="0" anchor="t"/>
          <a:lstStyle/>
          <a:p>
            <a:pPr algn="l" indent="0" marL="0">
              <a:lnSpc>
                <a:spcPct val="117000"/>
              </a:lnSpc>
              <a:buNone/>
            </a:pPr>
            <a:r>
              <a:rPr lang="en-US" sz="1200" dirty="0">
                <a:solidFill>
                  <a:srgbClr val="E0E4E6"/>
                </a:solidFill>
                <a:latin typeface="Barlow" pitchFamily="34" charset="0"/>
                <a:ea typeface="Barlow" pitchFamily="34" charset="-122"/>
                <a:cs typeface="Barlow" pitchFamily="34" charset="-120"/>
              </a:rPr>
              <a:t>Displays the final 8-bit result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34200" y="583009"/>
            <a:ext cx="10723294" cy="495300"/>
          </a:xfrm>
          <a:prstGeom prst="rect">
            <a:avLst/>
          </a:prstGeom>
          <a:noFill/>
          <a:ln/>
        </p:spPr>
        <p:txBody>
          <a:bodyPr wrap="none" lIns="0" tIns="0" rIns="0" bIns="0" rtlCol="0" anchor="t"/>
          <a:lstStyle/>
          <a:p>
            <a:pPr algn="l" indent="0" marL="0">
              <a:lnSpc>
                <a:spcPct val="104000"/>
              </a:lnSpc>
              <a:buNone/>
            </a:pPr>
            <a:r>
              <a:rPr lang="en-US" sz="3100" b="1" dirty="0">
                <a:solidFill>
                  <a:srgbClr val="F0FCFF"/>
                </a:solidFill>
                <a:latin typeface="Spline Sans Bold" pitchFamily="34" charset="0"/>
                <a:ea typeface="Spline Sans Bold" pitchFamily="34" charset="-122"/>
                <a:cs typeface="Spline Sans Bold" pitchFamily="34" charset="-120"/>
              </a:rPr>
              <a:t>Methodology &amp; Implementation</a:t>
            </a:r>
            <a:endParaRPr lang="en-US" sz="3100" dirty="0"/>
          </a:p>
        </p:txBody>
      </p:sp>
      <p:pic>
        <p:nvPicPr>
          <p:cNvPr id="3" name="Image 0" descr="preencoded.png">    </p:cNvPr>
          <p:cNvPicPr>
            <a:picLocks noChangeAspect="1"/>
          </p:cNvPicPr>
          <p:nvPr/>
        </p:nvPicPr>
        <p:blipFill>
          <a:blip r:embed="rId1"/>
          <a:stretch>
            <a:fillRect/>
          </a:stretch>
        </p:blipFill>
        <p:spPr>
          <a:xfrm>
            <a:off x="734200" y="1381423"/>
            <a:ext cx="3574365" cy="713284"/>
          </a:xfrm>
          <a:prstGeom prst="rect">
            <a:avLst/>
          </a:prstGeom>
        </p:spPr>
      </p:pic>
      <p:sp>
        <p:nvSpPr>
          <p:cNvPr id="4" name="Text 1"/>
          <p:cNvSpPr/>
          <p:nvPr/>
        </p:nvSpPr>
        <p:spPr>
          <a:xfrm>
            <a:off x="912492" y="2246213"/>
            <a:ext cx="3217782" cy="247650"/>
          </a:xfrm>
          <a:prstGeom prst="rect">
            <a:avLst/>
          </a:prstGeom>
          <a:noFill/>
          <a:ln/>
        </p:spPr>
        <p:txBody>
          <a:bodyPr wrap="none" lIns="0" tIns="0" rIns="0" bIns="0" rtlCol="0" anchor="t"/>
          <a:lstStyle/>
          <a:p>
            <a:pPr algn="l" indent="0" marL="0">
              <a:lnSpc>
                <a:spcPct val="104000"/>
              </a:lnSpc>
              <a:buNone/>
            </a:pPr>
            <a:r>
              <a:rPr lang="en-US" sz="1550" b="1" dirty="0">
                <a:solidFill>
                  <a:srgbClr val="E0E4E6"/>
                </a:solidFill>
                <a:latin typeface="Spline Sans Bold" pitchFamily="34" charset="0"/>
                <a:ea typeface="Spline Sans Bold" pitchFamily="34" charset="-122"/>
                <a:cs typeface="Spline Sans Bold" pitchFamily="34" charset="-120"/>
              </a:rPr>
              <a:t>Step 1</a:t>
            </a:r>
            <a:endParaRPr lang="en-US" sz="1550" dirty="0"/>
          </a:p>
        </p:txBody>
      </p:sp>
      <p:sp>
        <p:nvSpPr>
          <p:cNvPr id="5" name="Text 2"/>
          <p:cNvSpPr/>
          <p:nvPr/>
        </p:nvSpPr>
        <p:spPr>
          <a:xfrm>
            <a:off x="912492" y="2584748"/>
            <a:ext cx="3217782" cy="527645"/>
          </a:xfrm>
          <a:prstGeom prst="rect">
            <a:avLst/>
          </a:prstGeom>
          <a:noFill/>
          <a:ln/>
        </p:spPr>
        <p:txBody>
          <a:bodyPr wrap="square" lIns="0" tIns="0" rIns="0" bIns="0" rtlCol="0" anchor="t">
            <a:normAutofit/>
          </a:bodyPr>
          <a:lstStyle/>
          <a:p>
            <a:pPr algn="l" indent="0" marL="0">
              <a:lnSpc>
                <a:spcPct val="123000"/>
              </a:lnSpc>
              <a:buNone/>
            </a:pPr>
            <a:r>
              <a:rPr lang="en-US" sz="1400" dirty="0">
                <a:solidFill>
                  <a:srgbClr val="E0E4E6"/>
                </a:solidFill>
                <a:latin typeface="Barlow" pitchFamily="34" charset="0"/>
                <a:ea typeface="Barlow" pitchFamily="34" charset="-122"/>
                <a:cs typeface="Barlow" pitchFamily="34" charset="-120"/>
              </a:rPr>
              <a:t>Design 1-bit full adder using AND, OR, XOR gates</a:t>
            </a:r>
            <a:endParaRPr lang="en-US" sz="1400" dirty="0"/>
          </a:p>
        </p:txBody>
      </p:sp>
      <p:pic>
        <p:nvPicPr>
          <p:cNvPr id="6" name="Image 1" descr="preencoded.png">    </p:cNvPr>
          <p:cNvPicPr>
            <a:picLocks noChangeAspect="1"/>
          </p:cNvPicPr>
          <p:nvPr/>
        </p:nvPicPr>
        <p:blipFill>
          <a:blip r:embed="rId2"/>
          <a:stretch>
            <a:fillRect/>
          </a:stretch>
        </p:blipFill>
        <p:spPr>
          <a:xfrm>
            <a:off x="4308566" y="1381423"/>
            <a:ext cx="3574464" cy="713284"/>
          </a:xfrm>
          <a:prstGeom prst="rect">
            <a:avLst/>
          </a:prstGeom>
        </p:spPr>
      </p:pic>
      <p:sp>
        <p:nvSpPr>
          <p:cNvPr id="7" name="Text 3"/>
          <p:cNvSpPr/>
          <p:nvPr/>
        </p:nvSpPr>
        <p:spPr>
          <a:xfrm>
            <a:off x="4486857" y="2246213"/>
            <a:ext cx="3217881" cy="247650"/>
          </a:xfrm>
          <a:prstGeom prst="rect">
            <a:avLst/>
          </a:prstGeom>
          <a:noFill/>
          <a:ln/>
        </p:spPr>
        <p:txBody>
          <a:bodyPr wrap="none" lIns="0" tIns="0" rIns="0" bIns="0" rtlCol="0" anchor="t"/>
          <a:lstStyle/>
          <a:p>
            <a:pPr algn="l" indent="0" marL="0">
              <a:lnSpc>
                <a:spcPct val="104000"/>
              </a:lnSpc>
              <a:buNone/>
            </a:pPr>
            <a:r>
              <a:rPr lang="en-US" sz="1550" b="1" dirty="0">
                <a:solidFill>
                  <a:srgbClr val="E0E4E6"/>
                </a:solidFill>
                <a:latin typeface="Spline Sans Bold" pitchFamily="34" charset="0"/>
                <a:ea typeface="Spline Sans Bold" pitchFamily="34" charset="-122"/>
                <a:cs typeface="Spline Sans Bold" pitchFamily="34" charset="-120"/>
              </a:rPr>
              <a:t>Step 2</a:t>
            </a:r>
            <a:endParaRPr lang="en-US" sz="1550" dirty="0"/>
          </a:p>
        </p:txBody>
      </p:sp>
      <p:sp>
        <p:nvSpPr>
          <p:cNvPr id="8" name="Text 4"/>
          <p:cNvSpPr/>
          <p:nvPr/>
        </p:nvSpPr>
        <p:spPr>
          <a:xfrm>
            <a:off x="4486857" y="2584748"/>
            <a:ext cx="3217881" cy="527645"/>
          </a:xfrm>
          <a:prstGeom prst="rect">
            <a:avLst/>
          </a:prstGeom>
          <a:noFill/>
          <a:ln/>
        </p:spPr>
        <p:txBody>
          <a:bodyPr wrap="square" lIns="0" tIns="0" rIns="0" bIns="0" rtlCol="0" anchor="t">
            <a:normAutofit/>
          </a:bodyPr>
          <a:lstStyle/>
          <a:p>
            <a:pPr algn="l" indent="0" marL="0">
              <a:lnSpc>
                <a:spcPct val="123000"/>
              </a:lnSpc>
              <a:buNone/>
            </a:pPr>
            <a:r>
              <a:rPr lang="en-US" sz="1400" dirty="0">
                <a:solidFill>
                  <a:srgbClr val="E0E4E6"/>
                </a:solidFill>
                <a:latin typeface="Barlow" pitchFamily="34" charset="0"/>
                <a:ea typeface="Barlow" pitchFamily="34" charset="-122"/>
                <a:cs typeface="Barlow" pitchFamily="34" charset="-120"/>
              </a:rPr>
              <a:t>Combine 8 full adders to build the 8-bit adder</a:t>
            </a:r>
            <a:endParaRPr lang="en-US" sz="1400" dirty="0"/>
          </a:p>
        </p:txBody>
      </p:sp>
      <p:pic>
        <p:nvPicPr>
          <p:cNvPr id="9" name="Image 2" descr="preencoded.png">    </p:cNvPr>
          <p:cNvPicPr>
            <a:picLocks noChangeAspect="1"/>
          </p:cNvPicPr>
          <p:nvPr/>
        </p:nvPicPr>
        <p:blipFill>
          <a:blip r:embed="rId3"/>
          <a:stretch>
            <a:fillRect/>
          </a:stretch>
        </p:blipFill>
        <p:spPr>
          <a:xfrm>
            <a:off x="7883030" y="1381423"/>
            <a:ext cx="3574365" cy="713284"/>
          </a:xfrm>
          <a:prstGeom prst="rect">
            <a:avLst/>
          </a:prstGeom>
        </p:spPr>
      </p:pic>
      <p:sp>
        <p:nvSpPr>
          <p:cNvPr id="10" name="Text 5"/>
          <p:cNvSpPr/>
          <p:nvPr/>
        </p:nvSpPr>
        <p:spPr>
          <a:xfrm>
            <a:off x="8061322" y="2246213"/>
            <a:ext cx="3217782" cy="247650"/>
          </a:xfrm>
          <a:prstGeom prst="rect">
            <a:avLst/>
          </a:prstGeom>
          <a:noFill/>
          <a:ln/>
        </p:spPr>
        <p:txBody>
          <a:bodyPr wrap="none" lIns="0" tIns="0" rIns="0" bIns="0" rtlCol="0" anchor="t"/>
          <a:lstStyle/>
          <a:p>
            <a:pPr algn="l" indent="0" marL="0">
              <a:lnSpc>
                <a:spcPct val="104000"/>
              </a:lnSpc>
              <a:buNone/>
            </a:pPr>
            <a:r>
              <a:rPr lang="en-US" sz="1550" b="1" dirty="0">
                <a:solidFill>
                  <a:srgbClr val="E0E4E6"/>
                </a:solidFill>
                <a:latin typeface="Spline Sans Bold" pitchFamily="34" charset="0"/>
                <a:ea typeface="Spline Sans Bold" pitchFamily="34" charset="-122"/>
                <a:cs typeface="Spline Sans Bold" pitchFamily="34" charset="-120"/>
              </a:rPr>
              <a:t>Step 3</a:t>
            </a:r>
            <a:endParaRPr lang="en-US" sz="1550" dirty="0"/>
          </a:p>
        </p:txBody>
      </p:sp>
      <p:sp>
        <p:nvSpPr>
          <p:cNvPr id="11" name="Text 6"/>
          <p:cNvSpPr/>
          <p:nvPr/>
        </p:nvSpPr>
        <p:spPr>
          <a:xfrm>
            <a:off x="8061322" y="2584748"/>
            <a:ext cx="3217782" cy="527645"/>
          </a:xfrm>
          <a:prstGeom prst="rect">
            <a:avLst/>
          </a:prstGeom>
          <a:noFill/>
          <a:ln/>
        </p:spPr>
        <p:txBody>
          <a:bodyPr wrap="square" lIns="0" tIns="0" rIns="0" bIns="0" rtlCol="0" anchor="t">
            <a:normAutofit/>
          </a:bodyPr>
          <a:lstStyle/>
          <a:p>
            <a:pPr algn="l" indent="0" marL="0">
              <a:lnSpc>
                <a:spcPct val="123000"/>
              </a:lnSpc>
              <a:buNone/>
            </a:pPr>
            <a:r>
              <a:rPr lang="en-US" sz="1400" dirty="0">
                <a:solidFill>
                  <a:srgbClr val="E0E4E6"/>
                </a:solidFill>
                <a:latin typeface="Barlow" pitchFamily="34" charset="0"/>
                <a:ea typeface="Barlow" pitchFamily="34" charset="-122"/>
                <a:cs typeface="Barlow" pitchFamily="34" charset="-120"/>
              </a:rPr>
              <a:t>Add control unit with multiplexers to choose add or subtract</a:t>
            </a:r>
            <a:endParaRPr lang="en-US" sz="1400" dirty="0"/>
          </a:p>
        </p:txBody>
      </p:sp>
      <p:pic>
        <p:nvPicPr>
          <p:cNvPr id="12" name="Image 3" descr="preencoded.png">    </p:cNvPr>
          <p:cNvPicPr>
            <a:picLocks noChangeAspect="1"/>
          </p:cNvPicPr>
          <p:nvPr/>
        </p:nvPicPr>
        <p:blipFill>
          <a:blip r:embed="rId4"/>
          <a:stretch>
            <a:fillRect/>
          </a:stretch>
        </p:blipFill>
        <p:spPr>
          <a:xfrm>
            <a:off x="734200" y="3290689"/>
            <a:ext cx="3574365" cy="713284"/>
          </a:xfrm>
          <a:prstGeom prst="rect">
            <a:avLst/>
          </a:prstGeom>
        </p:spPr>
      </p:pic>
      <p:sp>
        <p:nvSpPr>
          <p:cNvPr id="13" name="Text 7"/>
          <p:cNvSpPr/>
          <p:nvPr/>
        </p:nvSpPr>
        <p:spPr>
          <a:xfrm>
            <a:off x="912492" y="4155480"/>
            <a:ext cx="3217782" cy="247650"/>
          </a:xfrm>
          <a:prstGeom prst="rect">
            <a:avLst/>
          </a:prstGeom>
          <a:noFill/>
          <a:ln/>
        </p:spPr>
        <p:txBody>
          <a:bodyPr wrap="none" lIns="0" tIns="0" rIns="0" bIns="0" rtlCol="0" anchor="t"/>
          <a:lstStyle/>
          <a:p>
            <a:pPr algn="l" indent="0" marL="0">
              <a:lnSpc>
                <a:spcPct val="104000"/>
              </a:lnSpc>
              <a:buNone/>
            </a:pPr>
            <a:r>
              <a:rPr lang="en-US" sz="1550" b="1" dirty="0">
                <a:solidFill>
                  <a:srgbClr val="E0E4E6"/>
                </a:solidFill>
                <a:latin typeface="Spline Sans Bold" pitchFamily="34" charset="0"/>
                <a:ea typeface="Spline Sans Bold" pitchFamily="34" charset="-122"/>
                <a:cs typeface="Spline Sans Bold" pitchFamily="34" charset="-120"/>
              </a:rPr>
              <a:t>Step 4</a:t>
            </a:r>
            <a:endParaRPr lang="en-US" sz="1550" dirty="0"/>
          </a:p>
        </p:txBody>
      </p:sp>
      <p:sp>
        <p:nvSpPr>
          <p:cNvPr id="14" name="Text 8"/>
          <p:cNvSpPr/>
          <p:nvPr/>
        </p:nvSpPr>
        <p:spPr>
          <a:xfrm>
            <a:off x="912492" y="4494014"/>
            <a:ext cx="3217782" cy="527645"/>
          </a:xfrm>
          <a:prstGeom prst="rect">
            <a:avLst/>
          </a:prstGeom>
          <a:noFill/>
          <a:ln/>
        </p:spPr>
        <p:txBody>
          <a:bodyPr wrap="square" lIns="0" tIns="0" rIns="0" bIns="0" rtlCol="0" anchor="t">
            <a:normAutofit/>
          </a:bodyPr>
          <a:lstStyle/>
          <a:p>
            <a:pPr algn="l" indent="0" marL="0">
              <a:lnSpc>
                <a:spcPct val="123000"/>
              </a:lnSpc>
              <a:buNone/>
            </a:pPr>
            <a:r>
              <a:rPr lang="en-US" sz="1400" dirty="0">
                <a:solidFill>
                  <a:srgbClr val="E0E4E6"/>
                </a:solidFill>
                <a:latin typeface="Barlow" pitchFamily="34" charset="0"/>
                <a:ea typeface="Barlow" pitchFamily="34" charset="-122"/>
                <a:cs typeface="Barlow" pitchFamily="34" charset="-120"/>
              </a:rPr>
              <a:t>Implement Two's Complement for negative numbers using inverters</a:t>
            </a:r>
            <a:endParaRPr lang="en-US" sz="1400" dirty="0"/>
          </a:p>
        </p:txBody>
      </p:sp>
      <p:pic>
        <p:nvPicPr>
          <p:cNvPr id="15" name="Image 4" descr="preencoded.png">    </p:cNvPr>
          <p:cNvPicPr>
            <a:picLocks noChangeAspect="1"/>
          </p:cNvPicPr>
          <p:nvPr/>
        </p:nvPicPr>
        <p:blipFill>
          <a:blip r:embed="rId5"/>
          <a:stretch>
            <a:fillRect/>
          </a:stretch>
        </p:blipFill>
        <p:spPr>
          <a:xfrm>
            <a:off x="4308566" y="3290689"/>
            <a:ext cx="3574464" cy="713284"/>
          </a:xfrm>
          <a:prstGeom prst="rect">
            <a:avLst/>
          </a:prstGeom>
        </p:spPr>
      </p:pic>
      <p:sp>
        <p:nvSpPr>
          <p:cNvPr id="16" name="Text 9"/>
          <p:cNvSpPr/>
          <p:nvPr/>
        </p:nvSpPr>
        <p:spPr>
          <a:xfrm>
            <a:off x="4486857" y="4155480"/>
            <a:ext cx="3217881" cy="247650"/>
          </a:xfrm>
          <a:prstGeom prst="rect">
            <a:avLst/>
          </a:prstGeom>
          <a:noFill/>
          <a:ln/>
        </p:spPr>
        <p:txBody>
          <a:bodyPr wrap="none" lIns="0" tIns="0" rIns="0" bIns="0" rtlCol="0" anchor="t"/>
          <a:lstStyle/>
          <a:p>
            <a:pPr algn="l" indent="0" marL="0">
              <a:lnSpc>
                <a:spcPct val="104000"/>
              </a:lnSpc>
              <a:buNone/>
            </a:pPr>
            <a:r>
              <a:rPr lang="en-US" sz="1550" b="1" dirty="0">
                <a:solidFill>
                  <a:srgbClr val="E0E4E6"/>
                </a:solidFill>
                <a:latin typeface="Spline Sans Bold" pitchFamily="34" charset="0"/>
                <a:ea typeface="Spline Sans Bold" pitchFamily="34" charset="-122"/>
                <a:cs typeface="Spline Sans Bold" pitchFamily="34" charset="-120"/>
              </a:rPr>
              <a:t>Step 5</a:t>
            </a:r>
            <a:endParaRPr lang="en-US" sz="1550" dirty="0"/>
          </a:p>
        </p:txBody>
      </p:sp>
      <p:sp>
        <p:nvSpPr>
          <p:cNvPr id="17" name="Text 10"/>
          <p:cNvSpPr/>
          <p:nvPr/>
        </p:nvSpPr>
        <p:spPr>
          <a:xfrm>
            <a:off x="4486857" y="4494014"/>
            <a:ext cx="3217881" cy="527645"/>
          </a:xfrm>
          <a:prstGeom prst="rect">
            <a:avLst/>
          </a:prstGeom>
          <a:noFill/>
          <a:ln/>
        </p:spPr>
        <p:txBody>
          <a:bodyPr wrap="square" lIns="0" tIns="0" rIns="0" bIns="0" rtlCol="0" anchor="t">
            <a:normAutofit/>
          </a:bodyPr>
          <a:lstStyle/>
          <a:p>
            <a:pPr algn="l" indent="0" marL="0">
              <a:lnSpc>
                <a:spcPct val="123000"/>
              </a:lnSpc>
              <a:buNone/>
            </a:pPr>
            <a:r>
              <a:rPr lang="en-US" sz="1400" dirty="0">
                <a:solidFill>
                  <a:srgbClr val="E0E4E6"/>
                </a:solidFill>
                <a:latin typeface="Barlow" pitchFamily="34" charset="0"/>
                <a:ea typeface="Barlow" pitchFamily="34" charset="-122"/>
                <a:cs typeface="Barlow" pitchFamily="34" charset="-120"/>
              </a:rPr>
              <a:t>Test and verify the complete system with all test cases</a:t>
            </a:r>
            <a:endParaRPr lang="en-US" sz="1400" dirty="0"/>
          </a:p>
        </p:txBody>
      </p:sp>
      <p:sp>
        <p:nvSpPr>
          <p:cNvPr id="18" name="Shape 11"/>
          <p:cNvSpPr/>
          <p:nvPr/>
        </p:nvSpPr>
        <p:spPr>
          <a:xfrm>
            <a:off x="734200" y="5370413"/>
            <a:ext cx="10723294" cy="904577"/>
          </a:xfrm>
          <a:prstGeom prst="roundRect">
            <a:avLst>
              <a:gd name="adj" fmla="val 29571"/>
            </a:avLst>
          </a:prstGeom>
          <a:solidFill>
            <a:srgbClr val="00805A"/>
          </a:solidFill>
          <a:ln/>
        </p:spPr>
      </p:sp>
      <p:pic>
        <p:nvPicPr>
          <p:cNvPr id="19" name="Image 5" descr="preencoded.png">    </p:cNvPr>
          <p:cNvPicPr>
            <a:picLocks noChangeAspect="1"/>
          </p:cNvPicPr>
          <p:nvPr/>
        </p:nvPicPr>
        <p:blipFill>
          <a:blip r:embed="rId6"/>
          <a:stretch>
            <a:fillRect/>
          </a:stretch>
        </p:blipFill>
        <p:spPr>
          <a:xfrm>
            <a:off x="912492" y="5588198"/>
            <a:ext cx="222840" cy="178296"/>
          </a:xfrm>
          <a:prstGeom prst="rect">
            <a:avLst/>
          </a:prstGeom>
        </p:spPr>
      </p:pic>
      <p:sp>
        <p:nvSpPr>
          <p:cNvPr id="20" name="Text 12"/>
          <p:cNvSpPr/>
          <p:nvPr/>
        </p:nvSpPr>
        <p:spPr>
          <a:xfrm>
            <a:off x="1313623" y="5566470"/>
            <a:ext cx="9965580" cy="527645"/>
          </a:xfrm>
          <a:prstGeom prst="rect">
            <a:avLst/>
          </a:prstGeom>
          <a:noFill/>
          <a:ln/>
        </p:spPr>
        <p:txBody>
          <a:bodyPr wrap="square" lIns="0" tIns="0" rIns="0" bIns="0" rtlCol="0" anchor="t">
            <a:normAutofit/>
          </a:bodyPr>
          <a:lstStyle/>
          <a:p>
            <a:pPr algn="l" indent="0" marL="0">
              <a:lnSpc>
                <a:spcPct val="123000"/>
              </a:lnSpc>
              <a:buNone/>
            </a:pPr>
            <a:r>
              <a:rPr lang="en-US" sz="1400" b="1" dirty="0">
                <a:solidFill>
                  <a:srgbClr val="FFFFFF"/>
                </a:solidFill>
                <a:latin typeface="Barlow Bold" pitchFamily="34" charset="0"/>
                <a:ea typeface="Barlow Bold" pitchFamily="34" charset="-122"/>
                <a:cs typeface="Barlow Bold" pitchFamily="34" charset="-120"/>
              </a:rPr>
              <a:t>Key Concept:</a:t>
            </a:r>
            <a:pPr algn="l" indent="0" marL="0">
              <a:lnSpc>
                <a:spcPct val="123000"/>
              </a:lnSpc>
              <a:buNone/>
            </a:pPr>
            <a:r>
              <a:rPr lang="en-US" sz="1400" dirty="0">
                <a:solidFill>
                  <a:srgbClr val="FFFFFF"/>
                </a:solidFill>
                <a:latin typeface="Barlow" pitchFamily="34" charset="0"/>
                <a:ea typeface="Barlow" pitchFamily="34" charset="-122"/>
                <a:cs typeface="Barlow" pitchFamily="34" charset="-120"/>
              </a:rPr>
              <a:t> Subtraction is done as A − B = A + (−B). The second number is inverted and 1 is added to get its negative. Example: +5 = 00000101, −5 = 11111011</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34200" y="724694"/>
            <a:ext cx="10723294" cy="437059"/>
          </a:xfrm>
          <a:prstGeom prst="rect">
            <a:avLst/>
          </a:prstGeom>
          <a:noFill/>
          <a:ln/>
        </p:spPr>
        <p:txBody>
          <a:bodyPr wrap="none" lIns="0" tIns="0" rIns="0" bIns="0" rtlCol="0" anchor="t"/>
          <a:lstStyle/>
          <a:p>
            <a:pPr algn="l" indent="0" marL="0">
              <a:lnSpc>
                <a:spcPct val="104000"/>
              </a:lnSpc>
              <a:buNone/>
            </a:pPr>
            <a:r>
              <a:rPr lang="en-US" sz="2750" b="1" dirty="0">
                <a:solidFill>
                  <a:srgbClr val="F0FCFF"/>
                </a:solidFill>
                <a:latin typeface="Spline Sans Bold" pitchFamily="34" charset="0"/>
                <a:ea typeface="Spline Sans Bold" pitchFamily="34" charset="-122"/>
                <a:cs typeface="Spline Sans Bold" pitchFamily="34" charset="-120"/>
              </a:rPr>
              <a:t>How It Works — Step by Step</a:t>
            </a:r>
            <a:endParaRPr lang="en-US" sz="2750" dirty="0"/>
          </a:p>
        </p:txBody>
      </p:sp>
      <p:pic>
        <p:nvPicPr>
          <p:cNvPr id="3" name="Image 0" descr="preencoded.png">    </p:cNvPr>
          <p:cNvPicPr>
            <a:picLocks noChangeAspect="1"/>
          </p:cNvPicPr>
          <p:nvPr/>
        </p:nvPicPr>
        <p:blipFill>
          <a:blip r:embed="rId1"/>
          <a:stretch>
            <a:fillRect/>
          </a:stretch>
        </p:blipFill>
        <p:spPr>
          <a:xfrm>
            <a:off x="1618614" y="1471513"/>
            <a:ext cx="5066975" cy="2319040"/>
          </a:xfrm>
          <a:prstGeom prst="rect">
            <a:avLst/>
          </a:prstGeom>
        </p:spPr>
      </p:pic>
      <p:sp>
        <p:nvSpPr>
          <p:cNvPr id="4" name="Text 1"/>
          <p:cNvSpPr/>
          <p:nvPr/>
        </p:nvSpPr>
        <p:spPr>
          <a:xfrm>
            <a:off x="5498416" y="3250035"/>
            <a:ext cx="951284" cy="162895"/>
          </a:xfrm>
          <a:prstGeom prst="rect">
            <a:avLst/>
          </a:prstGeom>
          <a:noFill/>
          <a:ln/>
        </p:spPr>
        <p:txBody>
          <a:bodyPr wrap="none" lIns="0" tIns="0" rIns="0" bIns="0" rtlCol="0" anchor="t"/>
          <a:lstStyle/>
          <a:p>
            <a:pPr algn="ctr" indent="0" marL="0">
              <a:lnSpc>
                <a:spcPct val="104000"/>
              </a:lnSpc>
              <a:buNone/>
            </a:pPr>
            <a:r>
              <a:rPr lang="en-US" sz="1000" b="1" dirty="0">
                <a:solidFill>
                  <a:srgbClr val="E0E4E6"/>
                </a:solidFill>
                <a:latin typeface="Spline Sans Bold" pitchFamily="34" charset="0"/>
                <a:ea typeface="Spline Sans Bold" pitchFamily="34" charset="-122"/>
                <a:cs typeface="Spline Sans Bold" pitchFamily="34" charset="-120"/>
              </a:rPr>
              <a:t>Get Answer</a:t>
            </a:r>
            <a:endParaRPr lang="en-US" sz="1000" dirty="0"/>
          </a:p>
        </p:txBody>
      </p:sp>
      <p:sp>
        <p:nvSpPr>
          <p:cNvPr id="5" name="Text 2"/>
          <p:cNvSpPr/>
          <p:nvPr/>
        </p:nvSpPr>
        <p:spPr>
          <a:xfrm>
            <a:off x="4299538" y="3168587"/>
            <a:ext cx="951284" cy="325790"/>
          </a:xfrm>
          <a:prstGeom prst="rect">
            <a:avLst/>
          </a:prstGeom>
          <a:noFill/>
          <a:ln/>
        </p:spPr>
        <p:txBody>
          <a:bodyPr wrap="square" lIns="0" tIns="0" rIns="0" bIns="0" rtlCol="0" anchor="t">
            <a:normAutofit/>
          </a:bodyPr>
          <a:lstStyle/>
          <a:p>
            <a:pPr algn="ctr" indent="0" marL="0">
              <a:lnSpc>
                <a:spcPct val="104000"/>
              </a:lnSpc>
              <a:buNone/>
            </a:pPr>
            <a:r>
              <a:rPr lang="en-US" sz="1000" b="1" dirty="0">
                <a:solidFill>
                  <a:srgbClr val="E0E4E6"/>
                </a:solidFill>
                <a:latin typeface="Spline Sans Bold" pitchFamily="34" charset="0"/>
                <a:ea typeface="Spline Sans Bold" pitchFamily="34" charset="-122"/>
                <a:cs typeface="Spline Sans Bold" pitchFamily="34" charset="-120"/>
              </a:rPr>
              <a:t>System Processes</a:t>
            </a:r>
            <a:endParaRPr lang="en-US" sz="1000" dirty="0"/>
          </a:p>
        </p:txBody>
      </p:sp>
      <p:sp>
        <p:nvSpPr>
          <p:cNvPr id="6" name="Text 3"/>
          <p:cNvSpPr/>
          <p:nvPr/>
        </p:nvSpPr>
        <p:spPr>
          <a:xfrm>
            <a:off x="3107174" y="3168587"/>
            <a:ext cx="951284" cy="325790"/>
          </a:xfrm>
          <a:prstGeom prst="rect">
            <a:avLst/>
          </a:prstGeom>
          <a:noFill/>
          <a:ln/>
        </p:spPr>
        <p:txBody>
          <a:bodyPr wrap="square" lIns="0" tIns="0" rIns="0" bIns="0" rtlCol="0" anchor="t">
            <a:normAutofit/>
          </a:bodyPr>
          <a:lstStyle/>
          <a:p>
            <a:pPr algn="ctr" indent="0" marL="0">
              <a:lnSpc>
                <a:spcPct val="104000"/>
              </a:lnSpc>
              <a:buNone/>
            </a:pPr>
            <a:r>
              <a:rPr lang="en-US" sz="1000" b="1" dirty="0">
                <a:solidFill>
                  <a:srgbClr val="E0E4E6"/>
                </a:solidFill>
                <a:latin typeface="Spline Sans Bold" pitchFamily="34" charset="0"/>
                <a:ea typeface="Spline Sans Bold" pitchFamily="34" charset="-122"/>
                <a:cs typeface="Spline Sans Bold" pitchFamily="34" charset="-120"/>
              </a:rPr>
              <a:t>Choose Operation</a:t>
            </a:r>
            <a:endParaRPr lang="en-US" sz="1000" dirty="0"/>
          </a:p>
        </p:txBody>
      </p:sp>
      <p:sp>
        <p:nvSpPr>
          <p:cNvPr id="7" name="Text 4"/>
          <p:cNvSpPr/>
          <p:nvPr/>
        </p:nvSpPr>
        <p:spPr>
          <a:xfrm>
            <a:off x="1888749" y="3250035"/>
            <a:ext cx="951284" cy="162895"/>
          </a:xfrm>
          <a:prstGeom prst="rect">
            <a:avLst/>
          </a:prstGeom>
          <a:noFill/>
          <a:ln/>
        </p:spPr>
        <p:txBody>
          <a:bodyPr wrap="none" lIns="0" tIns="0" rIns="0" bIns="0" rtlCol="0" anchor="t"/>
          <a:lstStyle/>
          <a:p>
            <a:pPr algn="ctr" indent="0" marL="0">
              <a:lnSpc>
                <a:spcPct val="104000"/>
              </a:lnSpc>
              <a:buNone/>
            </a:pPr>
            <a:r>
              <a:rPr lang="en-US" sz="1000" b="1" dirty="0">
                <a:solidFill>
                  <a:srgbClr val="E0E4E6"/>
                </a:solidFill>
                <a:latin typeface="Spline Sans Bold" pitchFamily="34" charset="0"/>
                <a:ea typeface="Spline Sans Bold" pitchFamily="34" charset="-122"/>
                <a:cs typeface="Spline Sans Bold" pitchFamily="34" charset="-120"/>
              </a:rPr>
              <a:t>Give Numbers</a:t>
            </a:r>
            <a:endParaRPr lang="en-US" sz="1000" dirty="0"/>
          </a:p>
        </p:txBody>
      </p:sp>
      <p:sp>
        <p:nvSpPr>
          <p:cNvPr id="8" name="Text 5"/>
          <p:cNvSpPr/>
          <p:nvPr/>
        </p:nvSpPr>
        <p:spPr>
          <a:xfrm>
            <a:off x="7960121" y="2005509"/>
            <a:ext cx="3503624" cy="218480"/>
          </a:xfrm>
          <a:prstGeom prst="rect">
            <a:avLst/>
          </a:prstGeom>
          <a:noFill/>
          <a:ln/>
        </p:spPr>
        <p:txBody>
          <a:bodyPr wrap="none" lIns="0" tIns="0" rIns="0" bIns="0" rtlCol="0" anchor="t"/>
          <a:lstStyle/>
          <a:p>
            <a:pPr algn="l" indent="0" marL="0">
              <a:lnSpc>
                <a:spcPct val="104000"/>
              </a:lnSpc>
              <a:buNone/>
            </a:pPr>
            <a:r>
              <a:rPr lang="en-US" sz="1350" b="1" dirty="0">
                <a:solidFill>
                  <a:srgbClr val="F0FCFF"/>
                </a:solidFill>
                <a:latin typeface="Spline Sans Bold" pitchFamily="34" charset="0"/>
                <a:ea typeface="Spline Sans Bold" pitchFamily="34" charset="-122"/>
                <a:cs typeface="Spline Sans Bold" pitchFamily="34" charset="-120"/>
              </a:rPr>
              <a:t>Addition Example</a:t>
            </a:r>
            <a:endParaRPr lang="en-US" sz="1350" dirty="0"/>
          </a:p>
        </p:txBody>
      </p:sp>
      <p:sp>
        <p:nvSpPr>
          <p:cNvPr id="9" name="Text 6"/>
          <p:cNvSpPr/>
          <p:nvPr/>
        </p:nvSpPr>
        <p:spPr>
          <a:xfrm>
            <a:off x="7960121" y="2271117"/>
            <a:ext cx="3503624" cy="218480"/>
          </a:xfrm>
          <a:prstGeom prst="rect">
            <a:avLst/>
          </a:prstGeom>
          <a:noFill/>
          <a:ln/>
        </p:spPr>
        <p:txBody>
          <a:bodyPr wrap="none" lIns="0" tIns="0" rIns="0" bIns="0" rtlCol="0" anchor="t"/>
          <a:lstStyle/>
          <a:p>
            <a:pPr algn="l" indent="0" marL="0">
              <a:lnSpc>
                <a:spcPct val="104000"/>
              </a:lnSpc>
              <a:buNone/>
            </a:pPr>
            <a:r>
              <a:rPr lang="en-US" sz="1350" b="1" dirty="0">
                <a:solidFill>
                  <a:srgbClr val="F0FCFF"/>
                </a:solidFill>
                <a:latin typeface="Spline Sans Bold" pitchFamily="34" charset="0"/>
                <a:ea typeface="Spline Sans Bold" pitchFamily="34" charset="-122"/>
                <a:cs typeface="Spline Sans Bold" pitchFamily="34" charset="-120"/>
              </a:rPr>
              <a:t>Subtraction Example</a:t>
            </a:r>
            <a:endParaRPr lang="en-US" sz="1350" dirty="0"/>
          </a:p>
        </p:txBody>
      </p:sp>
      <p:sp>
        <p:nvSpPr>
          <p:cNvPr id="10" name="Text 7"/>
          <p:cNvSpPr/>
          <p:nvPr/>
        </p:nvSpPr>
        <p:spPr>
          <a:xfrm>
            <a:off x="7960121" y="2607568"/>
            <a:ext cx="3503624" cy="660797"/>
          </a:xfrm>
          <a:prstGeom prst="rect">
            <a:avLst/>
          </a:prstGeom>
          <a:noFill/>
          <a:ln/>
        </p:spPr>
        <p:txBody>
          <a:bodyPr wrap="square" lIns="0" tIns="0" rIns="0" bIns="0" rtlCol="0" anchor="t">
            <a:normAutofit/>
          </a:bodyPr>
          <a:lstStyle/>
          <a:p>
            <a:pPr algn="l" indent="0" marL="0">
              <a:lnSpc>
                <a:spcPct val="117000"/>
              </a:lnSpc>
              <a:buNone/>
            </a:pPr>
            <a:r>
              <a:rPr lang="en-US" sz="1200" dirty="0">
                <a:solidFill>
                  <a:srgbClr val="E0E4E6"/>
                </a:solidFill>
                <a:latin typeface="Barlow" pitchFamily="34" charset="0"/>
                <a:ea typeface="Barlow" pitchFamily="34" charset="-122"/>
                <a:cs typeface="Barlow" pitchFamily="34" charset="-120"/>
              </a:rPr>
              <a:t>The system handles both positive and negative numbers </a:t>
            </a:r>
            <a:pPr algn="l" indent="0" marL="0">
              <a:lnSpc>
                <a:spcPct val="117000"/>
              </a:lnSpc>
              <a:buNone/>
            </a:pPr>
            <a:r>
              <a:rPr lang="en-US" sz="1200" b="1" dirty="0">
                <a:solidFill>
                  <a:srgbClr val="E0E4E6"/>
                </a:solidFill>
                <a:latin typeface="Barlow Bold" pitchFamily="34" charset="0"/>
                <a:ea typeface="Barlow Bold" pitchFamily="34" charset="-122"/>
                <a:cs typeface="Barlow Bold" pitchFamily="34" charset="-120"/>
              </a:rPr>
              <a:t>automatically</a:t>
            </a:r>
            <a:pPr algn="l" indent="0" marL="0">
              <a:lnSpc>
                <a:spcPct val="117000"/>
              </a:lnSpc>
              <a:buNone/>
            </a:pPr>
            <a:r>
              <a:rPr lang="en-US" sz="1200" dirty="0">
                <a:solidFill>
                  <a:srgbClr val="E0E4E6"/>
                </a:solidFill>
                <a:latin typeface="Barlow" pitchFamily="34" charset="0"/>
                <a:ea typeface="Barlow" pitchFamily="34" charset="-122"/>
                <a:cs typeface="Barlow" pitchFamily="34" charset="-120"/>
              </a:rPr>
              <a:t> using the Two's Complement method.</a:t>
            </a:r>
            <a:endParaRPr lang="en-US" sz="1200" dirty="0"/>
          </a:p>
        </p:txBody>
      </p:sp>
      <p:sp>
        <p:nvSpPr>
          <p:cNvPr id="11" name="Shape 8"/>
          <p:cNvSpPr/>
          <p:nvPr/>
        </p:nvSpPr>
        <p:spPr>
          <a:xfrm>
            <a:off x="734200" y="4056063"/>
            <a:ext cx="10723294" cy="1082377"/>
          </a:xfrm>
          <a:prstGeom prst="roundRect">
            <a:avLst>
              <a:gd name="adj" fmla="val 21806"/>
            </a:avLst>
          </a:prstGeom>
          <a:solidFill>
            <a:srgbClr val="0A081B"/>
          </a:solidFill>
          <a:ln w="19050">
            <a:solidFill>
              <a:srgbClr val="16FFBB"/>
            </a:solidFill>
            <a:prstDash val="solid"/>
          </a:ln>
        </p:spPr>
      </p:sp>
      <p:sp>
        <p:nvSpPr>
          <p:cNvPr id="12" name="Text 9"/>
          <p:cNvSpPr/>
          <p:nvPr/>
        </p:nvSpPr>
        <p:spPr>
          <a:xfrm>
            <a:off x="910508" y="4232374"/>
            <a:ext cx="10370680" cy="218480"/>
          </a:xfrm>
          <a:prstGeom prst="rect">
            <a:avLst/>
          </a:prstGeom>
          <a:noFill/>
          <a:ln/>
        </p:spPr>
        <p:txBody>
          <a:bodyPr wrap="none" lIns="0" tIns="0" rIns="0" bIns="0" rtlCol="0" anchor="t"/>
          <a:lstStyle/>
          <a:p>
            <a:pPr algn="l" indent="0" marL="0">
              <a:lnSpc>
                <a:spcPct val="104000"/>
              </a:lnSpc>
              <a:buNone/>
            </a:pPr>
            <a:r>
              <a:rPr lang="en-US" sz="1350" b="1" dirty="0">
                <a:solidFill>
                  <a:srgbClr val="E0E4E6"/>
                </a:solidFill>
                <a:latin typeface="Spline Sans Bold" pitchFamily="34" charset="0"/>
                <a:ea typeface="Spline Sans Bold" pitchFamily="34" charset="-122"/>
                <a:cs typeface="Spline Sans Bold" pitchFamily="34" charset="-120"/>
              </a:rPr>
              <a:t>5 + 3 = 8 ✓</a:t>
            </a:r>
            <a:endParaRPr lang="en-US" sz="1350" dirty="0"/>
          </a:p>
        </p:txBody>
      </p:sp>
      <p:sp>
        <p:nvSpPr>
          <p:cNvPr id="13" name="Text 10"/>
          <p:cNvSpPr/>
          <p:nvPr/>
        </p:nvSpPr>
        <p:spPr>
          <a:xfrm>
            <a:off x="910508" y="4521597"/>
            <a:ext cx="10370680" cy="440531"/>
          </a:xfrm>
          <a:prstGeom prst="rect">
            <a:avLst/>
          </a:prstGeom>
          <a:noFill/>
          <a:ln/>
        </p:spPr>
        <p:txBody>
          <a:bodyPr wrap="square" lIns="0" tIns="0" rIns="0" bIns="0" rtlCol="0" anchor="t">
            <a:normAutofit/>
          </a:bodyPr>
          <a:lstStyle/>
          <a:p>
            <a:pPr algn="l" indent="0" marL="0">
              <a:lnSpc>
                <a:spcPct val="117000"/>
              </a:lnSpc>
              <a:buNone/>
            </a:pPr>
            <a:r>
              <a:rPr lang="en-US" sz="1200" dirty="0">
                <a:solidFill>
                  <a:srgbClr val="E0E4E6"/>
                </a:solidFill>
                <a:latin typeface="Barlow" pitchFamily="34" charset="0"/>
                <a:ea typeface="Barlow" pitchFamily="34" charset="-122"/>
                <a:cs typeface="Barlow" pitchFamily="34" charset="-120"/>
              </a:rPr>
              <a:t>Input: 00000101 + 00000011</a:t>
            </a:r>
            <a:endParaRPr lang="en-US" sz="1200" dirty="0"/>
          </a:p>
          <a:p>
            <a:pPr algn="l" indent="0" marL="0">
              <a:lnSpc>
                <a:spcPct val="117000"/>
              </a:lnSpc>
              <a:buNone/>
            </a:pPr>
            <a:r>
              <a:rPr lang="en-US" sz="1200" dirty="0">
                <a:solidFill>
                  <a:srgbClr val="E0E4E6"/>
                </a:solidFill>
                <a:latin typeface="Barlow" pitchFamily="34" charset="0"/>
                <a:ea typeface="Barlow" pitchFamily="34" charset="-122"/>
                <a:cs typeface="Barlow" pitchFamily="34" charset="-120"/>
              </a:rPr>
              <a:t>Output: 00001000</a:t>
            </a:r>
            <a:endParaRPr lang="en-US" sz="1200" dirty="0"/>
          </a:p>
        </p:txBody>
      </p:sp>
      <p:sp>
        <p:nvSpPr>
          <p:cNvPr id="14" name="Shape 11"/>
          <p:cNvSpPr/>
          <p:nvPr/>
        </p:nvSpPr>
        <p:spPr>
          <a:xfrm>
            <a:off x="734200" y="5271195"/>
            <a:ext cx="10723294" cy="862112"/>
          </a:xfrm>
          <a:prstGeom prst="roundRect">
            <a:avLst>
              <a:gd name="adj" fmla="val 27377"/>
            </a:avLst>
          </a:prstGeom>
          <a:solidFill>
            <a:srgbClr val="0A081B"/>
          </a:solidFill>
          <a:ln w="19050">
            <a:solidFill>
              <a:srgbClr val="16FFBB"/>
            </a:solidFill>
            <a:prstDash val="solid"/>
          </a:ln>
        </p:spPr>
      </p:sp>
      <p:sp>
        <p:nvSpPr>
          <p:cNvPr id="15" name="Text 12"/>
          <p:cNvSpPr/>
          <p:nvPr/>
        </p:nvSpPr>
        <p:spPr>
          <a:xfrm>
            <a:off x="910508" y="5447506"/>
            <a:ext cx="10370680" cy="218480"/>
          </a:xfrm>
          <a:prstGeom prst="rect">
            <a:avLst/>
          </a:prstGeom>
          <a:noFill/>
          <a:ln/>
        </p:spPr>
        <p:txBody>
          <a:bodyPr wrap="none" lIns="0" tIns="0" rIns="0" bIns="0" rtlCol="0" anchor="t"/>
          <a:lstStyle/>
          <a:p>
            <a:pPr algn="l" indent="0" marL="0">
              <a:lnSpc>
                <a:spcPct val="104000"/>
              </a:lnSpc>
              <a:buNone/>
            </a:pPr>
            <a:r>
              <a:rPr lang="en-US" sz="1350" b="1" dirty="0">
                <a:solidFill>
                  <a:srgbClr val="E0E4E6"/>
                </a:solidFill>
                <a:latin typeface="Spline Sans Bold" pitchFamily="34" charset="0"/>
                <a:ea typeface="Spline Sans Bold" pitchFamily="34" charset="-122"/>
                <a:cs typeface="Spline Sans Bold" pitchFamily="34" charset="-120"/>
              </a:rPr>
              <a:t>5 + (−3) = 2 ✓</a:t>
            </a:r>
            <a:endParaRPr lang="en-US" sz="1350" dirty="0"/>
          </a:p>
        </p:txBody>
      </p:sp>
      <p:sp>
        <p:nvSpPr>
          <p:cNvPr id="16" name="Text 13"/>
          <p:cNvSpPr/>
          <p:nvPr/>
        </p:nvSpPr>
        <p:spPr>
          <a:xfrm>
            <a:off x="910508" y="5736729"/>
            <a:ext cx="10370680" cy="220266"/>
          </a:xfrm>
          <a:prstGeom prst="rect">
            <a:avLst/>
          </a:prstGeom>
          <a:noFill/>
          <a:ln/>
        </p:spPr>
        <p:txBody>
          <a:bodyPr wrap="none" lIns="0" tIns="0" rIns="0" bIns="0" rtlCol="0" anchor="t"/>
          <a:lstStyle/>
          <a:p>
            <a:pPr algn="l" indent="0" marL="0">
              <a:lnSpc>
                <a:spcPct val="117000"/>
              </a:lnSpc>
              <a:buNone/>
            </a:pPr>
            <a:r>
              <a:rPr lang="en-US" sz="1200" dirty="0">
                <a:solidFill>
                  <a:srgbClr val="E0E4E6"/>
                </a:solidFill>
                <a:latin typeface="Barlow" pitchFamily="34" charset="0"/>
                <a:ea typeface="Barlow" pitchFamily="34" charset="-122"/>
                <a:cs typeface="Barlow" pitchFamily="34" charset="-120"/>
              </a:rPr>
              <a:t>B is inverted using Two's Complement, then added to A</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34200" y="934541"/>
            <a:ext cx="10723294" cy="495300"/>
          </a:xfrm>
          <a:prstGeom prst="rect">
            <a:avLst/>
          </a:prstGeom>
          <a:noFill/>
          <a:ln/>
        </p:spPr>
        <p:txBody>
          <a:bodyPr wrap="none" lIns="0" tIns="0" rIns="0" bIns="0" rtlCol="0" anchor="t"/>
          <a:lstStyle/>
          <a:p>
            <a:pPr algn="l" indent="0" marL="0">
              <a:lnSpc>
                <a:spcPct val="104000"/>
              </a:lnSpc>
              <a:buNone/>
            </a:pPr>
            <a:r>
              <a:rPr lang="en-US" sz="3100" b="1" dirty="0">
                <a:solidFill>
                  <a:srgbClr val="F0FCFF"/>
                </a:solidFill>
                <a:latin typeface="Spline Sans Bold" pitchFamily="34" charset="0"/>
                <a:ea typeface="Spline Sans Bold" pitchFamily="34" charset="-122"/>
                <a:cs typeface="Spline Sans Bold" pitchFamily="34" charset="-120"/>
              </a:rPr>
              <a:t>Simulation &amp; Testing Results</a:t>
            </a:r>
            <a:endParaRPr lang="en-US" sz="3100" dirty="0"/>
          </a:p>
        </p:txBody>
      </p:sp>
      <p:sp>
        <p:nvSpPr>
          <p:cNvPr id="3" name="Text 1"/>
          <p:cNvSpPr/>
          <p:nvPr/>
        </p:nvSpPr>
        <p:spPr>
          <a:xfrm>
            <a:off x="734200" y="1732955"/>
            <a:ext cx="10723294" cy="527645"/>
          </a:xfrm>
          <a:prstGeom prst="rect">
            <a:avLst/>
          </a:prstGeom>
          <a:noFill/>
          <a:ln/>
        </p:spPr>
        <p:txBody>
          <a:bodyPr wrap="square" lIns="0" tIns="0" rIns="0" bIns="0" rtlCol="0" anchor="t">
            <a:normAutofit/>
          </a:bodyPr>
          <a:lstStyle/>
          <a:p>
            <a:pPr algn="l" indent="0" marL="0">
              <a:lnSpc>
                <a:spcPct val="123000"/>
              </a:lnSpc>
              <a:buNone/>
            </a:pPr>
            <a:r>
              <a:rPr lang="en-US" sz="1400" dirty="0">
                <a:solidFill>
                  <a:srgbClr val="E0E4E6"/>
                </a:solidFill>
                <a:latin typeface="Barlow" pitchFamily="34" charset="0"/>
                <a:ea typeface="Barlow" pitchFamily="34" charset="-122"/>
                <a:cs typeface="Barlow" pitchFamily="34" charset="-120"/>
              </a:rPr>
              <a:t>Our 8-bit signed arithmetic unit underwent rigorous simulation and testing using various positive and negative number combinations for both addition and subtraction. All test cases passed successfully, demonstrating the unit's accuracy and robustness.</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34200" y="2431058"/>
          <a:ext cx="9143771" cy="914400"/>
        </p:xfrm>
        <a:graphic>
          <a:graphicData uri="http://schemas.openxmlformats.org/drawingml/2006/table">
            <a:tbl>
              <a:tblPr/>
              <a:tblGrid>
                <a:gridCol w="1930193"/>
                <a:gridCol w="1501261"/>
                <a:gridCol w="2359125"/>
                <a:gridCol w="1930193"/>
                <a:gridCol w="1930193"/>
                <a:gridCol w="1072329"/>
              </a:tblGrid>
              <a:tr h="461455">
                <a:tc>
                  <a:txBody>
                    <a:bodyPr/>
                    <a:lstStyle/>
                    <a:p>
                      <a:pPr indent="0" marL="0">
                        <a:buNone/>
                      </a:pPr>
                      <a:r>
                        <a:rPr lang="en-US" sz="1400" dirty="0">
                          <a:solidFill>
                            <a:srgbClr val="E0E4E6"/>
                          </a:solidFill>
                          <a:latin typeface="Barlow" pitchFamily="34" charset="0"/>
                          <a:ea typeface="Barlow" pitchFamily="34" charset="-122"/>
                          <a:cs typeface="Barlow" pitchFamily="34" charset="-120"/>
                        </a:rPr>
                        <a:t>Test Case</a:t>
                      </a:r>
                      <a:endParaRPr lang="en-US" sz="1400" dirty="0">
                        <a:latin typeface="Barlow" charset="0"/>
                        <a:ea typeface="Barlow" charset="0"/>
                        <a:cs typeface="Barlow" charset="0"/>
                      </a:endParaRPr>
                    </a:p>
                  </a:txBody>
                  <a:tcPr marL="178330" marR="178330" marT="6350" marB="6350" anchor="ctr">
                    <a:lnL w="12700" cap="flat" cmpd="sng" algn="ctr">
                      <a:solidFill>
                        <a:srgbClr val="16FFBB"/>
                      </a:solidFill>
                      <a:prstDash val="solid"/>
                      <a:round/>
                      <a:headEnd type="none" w="med" len="med"/>
                      <a:tailEnd type="none" w="med" len="med"/>
                    </a:lnL>
                    <a:lnR w="12700" cap="flat" cmpd="sng" algn="ctr">
                      <a:solidFill>
                        <a:srgbClr val="16FFBB"/>
                      </a:solidFill>
                      <a:prstDash val="solid"/>
                      <a:round/>
                      <a:headEnd type="none" w="med" len="med"/>
                      <a:tailEnd type="none" w="med" len="med"/>
                    </a:lnR>
                    <a:lnT w="12700" cap="flat" cmpd="sng" algn="ctr">
                      <a:solidFill>
                        <a:srgbClr val="16FFBB"/>
                      </a:solidFill>
                      <a:prstDash val="solid"/>
                      <a:round/>
                      <a:headEnd type="none" w="med" len="med"/>
                      <a:tailEnd type="none" w="med" len="med"/>
                    </a:lnT>
                    <a:lnB w="12700" cap="flat" cmpd="sng" algn="ctr">
                      <a:solidFill>
                        <a:srgbClr val="16FFBB"/>
                      </a:solidFill>
                      <a:prstDash val="solid"/>
                      <a:round/>
                      <a:headEnd type="none" w="med" len="med"/>
                      <a:tailEnd type="none" w="med" len="med"/>
                    </a:lnB>
                  </a:tcPr>
                </a:tc>
                <a:tc>
                  <a:txBody>
                    <a:bodyPr/>
                    <a:lstStyle/>
                    <a:p>
                      <a:pPr indent="0" marL="0">
                        <a:buNone/>
                      </a:pPr>
                      <a:r>
                        <a:rPr lang="en-US" sz="1400" dirty="0">
                          <a:solidFill>
                            <a:srgbClr val="E0E4E6"/>
                          </a:solidFill>
                          <a:latin typeface="Barlow" pitchFamily="34" charset="0"/>
                          <a:ea typeface="Barlow" pitchFamily="34" charset="-122"/>
                          <a:cs typeface="Barlow" pitchFamily="34" charset="-120"/>
                        </a:rPr>
                        <a:t>Operation</a:t>
                      </a:r>
                      <a:endParaRPr lang="en-US" sz="1400" dirty="0">
                        <a:latin typeface="Barlow" charset="0"/>
                        <a:ea typeface="Barlow" charset="0"/>
                        <a:cs typeface="Barlow" charset="0"/>
                      </a:endParaRPr>
                    </a:p>
                  </a:txBody>
                  <a:tcPr marL="178330" marR="178330" marT="6350" marB="6350" anchor="ctr">
                    <a:lnL w="12700" cap="flat" cmpd="sng" algn="ctr">
                      <a:solidFill>
                        <a:srgbClr val="16FFBB"/>
                      </a:solidFill>
                      <a:prstDash val="solid"/>
                      <a:round/>
                      <a:headEnd type="none" w="med" len="med"/>
                      <a:tailEnd type="none" w="med" len="med"/>
                    </a:lnL>
                    <a:lnR w="12700" cap="flat" cmpd="sng" algn="ctr">
                      <a:solidFill>
                        <a:srgbClr val="16FFBB"/>
                      </a:solidFill>
                      <a:prstDash val="solid"/>
                      <a:round/>
                      <a:headEnd type="none" w="med" len="med"/>
                      <a:tailEnd type="none" w="med" len="med"/>
                    </a:lnR>
                    <a:lnT w="12700" cap="flat" cmpd="sng" algn="ctr">
                      <a:solidFill>
                        <a:srgbClr val="16FFBB"/>
                      </a:solidFill>
                      <a:prstDash val="solid"/>
                      <a:round/>
                      <a:headEnd type="none" w="med" len="med"/>
                      <a:tailEnd type="none" w="med" len="med"/>
                    </a:lnT>
                    <a:lnB w="12700" cap="flat" cmpd="sng" algn="ctr">
                      <a:solidFill>
                        <a:srgbClr val="16FFBB"/>
                      </a:solidFill>
                      <a:prstDash val="solid"/>
                      <a:round/>
                      <a:headEnd type="none" w="med" len="med"/>
                      <a:tailEnd type="none" w="med" len="med"/>
                    </a:lnB>
                  </a:tcPr>
                </a:tc>
                <a:tc>
                  <a:txBody>
                    <a:bodyPr/>
                    <a:lstStyle/>
                    <a:p>
                      <a:pPr indent="0" marL="0">
                        <a:buNone/>
                      </a:pPr>
                      <a:r>
                        <a:rPr lang="en-US" sz="1400" dirty="0">
                          <a:solidFill>
                            <a:srgbClr val="E0E4E6"/>
                          </a:solidFill>
                          <a:latin typeface="Barlow" pitchFamily="34" charset="0"/>
                          <a:ea typeface="Barlow" pitchFamily="34" charset="-122"/>
                          <a:cs typeface="Barlow" pitchFamily="34" charset="-120"/>
                        </a:rPr>
                        <a:t>Input (Binary)</a:t>
                      </a:r>
                      <a:endParaRPr lang="en-US" sz="1400" dirty="0">
                        <a:latin typeface="Barlow" charset="0"/>
                        <a:ea typeface="Barlow" charset="0"/>
                        <a:cs typeface="Barlow" charset="0"/>
                      </a:endParaRPr>
                    </a:p>
                  </a:txBody>
                  <a:tcPr marL="178330" marR="178330" marT="6350" marB="6350" anchor="ctr">
                    <a:lnL w="12700" cap="flat" cmpd="sng" algn="ctr">
                      <a:solidFill>
                        <a:srgbClr val="16FFBB"/>
                      </a:solidFill>
                      <a:prstDash val="solid"/>
                      <a:round/>
                      <a:headEnd type="none" w="med" len="med"/>
                      <a:tailEnd type="none" w="med" len="med"/>
                    </a:lnL>
                    <a:lnR w="12700" cap="flat" cmpd="sng" algn="ctr">
                      <a:solidFill>
                        <a:srgbClr val="16FFBB"/>
                      </a:solidFill>
                      <a:prstDash val="solid"/>
                      <a:round/>
                      <a:headEnd type="none" w="med" len="med"/>
                      <a:tailEnd type="none" w="med" len="med"/>
                    </a:lnR>
                    <a:lnT w="12700" cap="flat" cmpd="sng" algn="ctr">
                      <a:solidFill>
                        <a:srgbClr val="16FFBB"/>
                      </a:solidFill>
                      <a:prstDash val="solid"/>
                      <a:round/>
                      <a:headEnd type="none" w="med" len="med"/>
                      <a:tailEnd type="none" w="med" len="med"/>
                    </a:lnT>
                    <a:lnB w="12700" cap="flat" cmpd="sng" algn="ctr">
                      <a:solidFill>
                        <a:srgbClr val="16FFBB"/>
                      </a:solidFill>
                      <a:prstDash val="solid"/>
                      <a:round/>
                      <a:headEnd type="none" w="med" len="med"/>
                      <a:tailEnd type="none" w="med" len="med"/>
                    </a:lnB>
                  </a:tcPr>
                </a:tc>
                <a:tc>
                  <a:txBody>
                    <a:bodyPr/>
                    <a:lstStyle/>
                    <a:p>
                      <a:pPr indent="0" marL="0">
                        <a:buNone/>
                      </a:pPr>
                      <a:r>
                        <a:rPr lang="en-US" sz="1400" dirty="0">
                          <a:solidFill>
                            <a:srgbClr val="E0E4E6"/>
                          </a:solidFill>
                          <a:latin typeface="Barlow" pitchFamily="34" charset="0"/>
                          <a:ea typeface="Barlow" pitchFamily="34" charset="-122"/>
                          <a:cs typeface="Barlow" pitchFamily="34" charset="-120"/>
                        </a:rPr>
                        <a:t>Expected Output</a:t>
                      </a:r>
                      <a:endParaRPr lang="en-US" sz="1400" dirty="0">
                        <a:latin typeface="Barlow" charset="0"/>
                        <a:ea typeface="Barlow" charset="0"/>
                        <a:cs typeface="Barlow" charset="0"/>
                      </a:endParaRPr>
                    </a:p>
                  </a:txBody>
                  <a:tcPr marL="178330" marR="178330" marT="6350" marB="6350" anchor="ctr">
                    <a:lnL w="12700" cap="flat" cmpd="sng" algn="ctr">
                      <a:solidFill>
                        <a:srgbClr val="16FFBB"/>
                      </a:solidFill>
                      <a:prstDash val="solid"/>
                      <a:round/>
                      <a:headEnd type="none" w="med" len="med"/>
                      <a:tailEnd type="none" w="med" len="med"/>
                    </a:lnL>
                    <a:lnR w="12700" cap="flat" cmpd="sng" algn="ctr">
                      <a:solidFill>
                        <a:srgbClr val="16FFBB"/>
                      </a:solidFill>
                      <a:prstDash val="solid"/>
                      <a:round/>
                      <a:headEnd type="none" w="med" len="med"/>
                      <a:tailEnd type="none" w="med" len="med"/>
                    </a:lnR>
                    <a:lnT w="12700" cap="flat" cmpd="sng" algn="ctr">
                      <a:solidFill>
                        <a:srgbClr val="16FFBB"/>
                      </a:solidFill>
                      <a:prstDash val="solid"/>
                      <a:round/>
                      <a:headEnd type="none" w="med" len="med"/>
                      <a:tailEnd type="none" w="med" len="med"/>
                    </a:lnT>
                    <a:lnB w="12700" cap="flat" cmpd="sng" algn="ctr">
                      <a:solidFill>
                        <a:srgbClr val="16FFBB"/>
                      </a:solidFill>
                      <a:prstDash val="solid"/>
                      <a:round/>
                      <a:headEnd type="none" w="med" len="med"/>
                      <a:tailEnd type="none" w="med" len="med"/>
                    </a:lnB>
                  </a:tcPr>
                </a:tc>
                <a:tc>
                  <a:txBody>
                    <a:bodyPr/>
                    <a:lstStyle/>
                    <a:p>
                      <a:pPr indent="0" marL="0">
                        <a:buNone/>
                      </a:pPr>
                      <a:r>
                        <a:rPr lang="en-US" sz="1400" dirty="0">
                          <a:solidFill>
                            <a:srgbClr val="E0E4E6"/>
                          </a:solidFill>
                          <a:latin typeface="Barlow" pitchFamily="34" charset="0"/>
                          <a:ea typeface="Barlow" pitchFamily="34" charset="-122"/>
                          <a:cs typeface="Barlow" pitchFamily="34" charset="-120"/>
                        </a:rPr>
                        <a:t>Actual Output</a:t>
                      </a:r>
                      <a:endParaRPr lang="en-US" sz="1400" dirty="0">
                        <a:latin typeface="Barlow" charset="0"/>
                        <a:ea typeface="Barlow" charset="0"/>
                        <a:cs typeface="Barlow" charset="0"/>
                      </a:endParaRPr>
                    </a:p>
                  </a:txBody>
                  <a:tcPr marL="178330" marR="178330" marT="6350" marB="6350" anchor="ctr">
                    <a:lnL w="12700" cap="flat" cmpd="sng" algn="ctr">
                      <a:solidFill>
                        <a:srgbClr val="16FFBB"/>
                      </a:solidFill>
                      <a:prstDash val="solid"/>
                      <a:round/>
                      <a:headEnd type="none" w="med" len="med"/>
                      <a:tailEnd type="none" w="med" len="med"/>
                    </a:lnL>
                    <a:lnR w="12700" cap="flat" cmpd="sng" algn="ctr">
                      <a:solidFill>
                        <a:srgbClr val="16FFBB"/>
                      </a:solidFill>
                      <a:prstDash val="solid"/>
                      <a:round/>
                      <a:headEnd type="none" w="med" len="med"/>
                      <a:tailEnd type="none" w="med" len="med"/>
                    </a:lnR>
                    <a:lnT w="12700" cap="flat" cmpd="sng" algn="ctr">
                      <a:solidFill>
                        <a:srgbClr val="16FFBB"/>
                      </a:solidFill>
                      <a:prstDash val="solid"/>
                      <a:round/>
                      <a:headEnd type="none" w="med" len="med"/>
                      <a:tailEnd type="none" w="med" len="med"/>
                    </a:lnT>
                    <a:lnB w="12700" cap="flat" cmpd="sng" algn="ctr">
                      <a:solidFill>
                        <a:srgbClr val="16FFBB"/>
                      </a:solidFill>
                      <a:prstDash val="solid"/>
                      <a:round/>
                      <a:headEnd type="none" w="med" len="med"/>
                      <a:tailEnd type="none" w="med" len="med"/>
                    </a:lnB>
                  </a:tcPr>
                </a:tc>
                <a:tc>
                  <a:txBody>
                    <a:bodyPr/>
                    <a:lstStyle/>
                    <a:p>
                      <a:pPr indent="0" marL="0">
                        <a:buNone/>
                      </a:pPr>
                      <a:r>
                        <a:rPr lang="en-US" sz="1400" dirty="0">
                          <a:solidFill>
                            <a:srgbClr val="E0E4E6"/>
                          </a:solidFill>
                          <a:latin typeface="Barlow" pitchFamily="34" charset="0"/>
                          <a:ea typeface="Barlow" pitchFamily="34" charset="-122"/>
                          <a:cs typeface="Barlow" pitchFamily="34" charset="-120"/>
                        </a:rPr>
                        <a:t>Status</a:t>
                      </a:r>
                      <a:endParaRPr lang="en-US" sz="1400" dirty="0">
                        <a:latin typeface="Barlow" charset="0"/>
                        <a:ea typeface="Barlow" charset="0"/>
                        <a:cs typeface="Barlow" charset="0"/>
                      </a:endParaRPr>
                    </a:p>
                  </a:txBody>
                  <a:tcPr marL="178330" marR="178330" marT="6350" marB="6350" anchor="ctr">
                    <a:lnL w="12700" cap="flat" cmpd="sng" algn="ctr">
                      <a:solidFill>
                        <a:srgbClr val="16FFBB"/>
                      </a:solidFill>
                      <a:prstDash val="solid"/>
                      <a:round/>
                      <a:headEnd type="none" w="med" len="med"/>
                      <a:tailEnd type="none" w="med" len="med"/>
                    </a:lnL>
                    <a:lnR w="12700" cap="flat" cmpd="sng" algn="ctr">
                      <a:solidFill>
                        <a:srgbClr val="16FFBB"/>
                      </a:solidFill>
                      <a:prstDash val="solid"/>
                      <a:round/>
                      <a:headEnd type="none" w="med" len="med"/>
                      <a:tailEnd type="none" w="med" len="med"/>
                    </a:lnR>
                    <a:lnT w="12700" cap="flat" cmpd="sng" algn="ctr">
                      <a:solidFill>
                        <a:srgbClr val="16FFBB"/>
                      </a:solidFill>
                      <a:prstDash val="solid"/>
                      <a:round/>
                      <a:headEnd type="none" w="med" len="med"/>
                      <a:tailEnd type="none" w="med" len="med"/>
                    </a:lnT>
                    <a:lnB w="12700" cap="flat" cmpd="sng" algn="ctr">
                      <a:solidFill>
                        <a:srgbClr val="16FFBB"/>
                      </a:solidFill>
                      <a:prstDash val="solid"/>
                      <a:round/>
                      <a:headEnd type="none" w="med" len="med"/>
                      <a:tailEnd type="none" w="med" len="med"/>
                    </a:lnB>
                  </a:tcPr>
                </a:tc>
              </a:tr>
              <a:tr h="464630">
                <a:tc>
                  <a:txBody>
                    <a:bodyPr/>
                    <a:lstStyle/>
                    <a:p>
                      <a:pPr indent="0" marL="0">
                        <a:buNone/>
                      </a:pPr>
                      <a:r>
                        <a:rPr lang="en-US" sz="1400" dirty="0">
                          <a:solidFill>
                            <a:srgbClr val="E0E4E6"/>
                          </a:solidFill>
                          <a:latin typeface="Barlow" pitchFamily="34" charset="0"/>
                          <a:ea typeface="Barlow" pitchFamily="34" charset="-122"/>
                          <a:cs typeface="Barlow" pitchFamily="34" charset="-120"/>
                        </a:rPr>
                        <a:t>1</a:t>
                      </a:r>
                      <a:endParaRPr lang="en-US" sz="1400" dirty="0">
                        <a:latin typeface="Barlow" charset="0"/>
                        <a:ea typeface="Barlow" charset="0"/>
                        <a:cs typeface="Barlow" charset="0"/>
                      </a:endParaRPr>
                    </a:p>
                  </a:txBody>
                  <a:tcPr marL="178330" marR="178330" marT="6350" marB="6350" anchor="ctr">
                    <a:lnL w="12700" cap="flat" cmpd="sng" algn="ctr">
                      <a:solidFill>
                        <a:srgbClr val="16FFBB"/>
                      </a:solidFill>
                      <a:prstDash val="solid"/>
                      <a:round/>
                      <a:headEnd type="none" w="med" len="med"/>
                      <a:tailEnd type="none" w="med" len="med"/>
                    </a:lnL>
                    <a:lnR w="12700" cap="flat" cmpd="sng" algn="ctr">
                      <a:solidFill>
                        <a:srgbClr val="16FFBB"/>
                      </a:solidFill>
                      <a:prstDash val="solid"/>
                      <a:round/>
                      <a:headEnd type="none" w="med" len="med"/>
                      <a:tailEnd type="none" w="med" len="med"/>
                    </a:lnR>
                    <a:lnT w="12700" cap="flat" cmpd="sng" algn="ctr">
                      <a:solidFill>
                        <a:srgbClr val="16FFBB"/>
                      </a:solidFill>
                      <a:prstDash val="solid"/>
                      <a:round/>
                      <a:headEnd type="none" w="med" len="med"/>
                      <a:tailEnd type="none" w="med" len="med"/>
                    </a:lnT>
                    <a:lnB w="12700" cap="flat" cmpd="sng" algn="ctr">
                      <a:solidFill>
                        <a:srgbClr val="16FFBB"/>
                      </a:solidFill>
                      <a:prstDash val="solid"/>
                      <a:round/>
                      <a:headEnd type="none" w="med" len="med"/>
                      <a:tailEnd type="none" w="med" len="med"/>
                    </a:lnB>
                  </a:tcPr>
                </a:tc>
                <a:tc>
                  <a:txBody>
                    <a:bodyPr/>
                    <a:lstStyle/>
                    <a:p>
                      <a:pPr indent="0" marL="0">
                        <a:buNone/>
                      </a:pPr>
                      <a:r>
                        <a:rPr lang="en-US" sz="1400" dirty="0">
                          <a:solidFill>
                            <a:srgbClr val="E0E4E6"/>
                          </a:solidFill>
                          <a:latin typeface="Barlow" pitchFamily="34" charset="0"/>
                          <a:ea typeface="Barlow" pitchFamily="34" charset="-122"/>
                          <a:cs typeface="Barlow" pitchFamily="34" charset="-120"/>
                        </a:rPr>
                        <a:t>5 + 3 = 8</a:t>
                      </a:r>
                      <a:endParaRPr lang="en-US" sz="1400" dirty="0">
                        <a:latin typeface="Barlow" charset="0"/>
                        <a:ea typeface="Barlow" charset="0"/>
                        <a:cs typeface="Barlow" charset="0"/>
                      </a:endParaRPr>
                    </a:p>
                  </a:txBody>
                  <a:tcPr marL="178330" marR="178330" marT="6350" marB="6350" anchor="ctr">
                    <a:lnL w="12700" cap="flat" cmpd="sng" algn="ctr">
                      <a:solidFill>
                        <a:srgbClr val="16FFBB"/>
                      </a:solidFill>
                      <a:prstDash val="solid"/>
                      <a:round/>
                      <a:headEnd type="none" w="med" len="med"/>
                      <a:tailEnd type="none" w="med" len="med"/>
                    </a:lnL>
                    <a:lnR w="12700" cap="flat" cmpd="sng" algn="ctr">
                      <a:solidFill>
                        <a:srgbClr val="16FFBB"/>
                      </a:solidFill>
                      <a:prstDash val="solid"/>
                      <a:round/>
                      <a:headEnd type="none" w="med" len="med"/>
                      <a:tailEnd type="none" w="med" len="med"/>
                    </a:lnR>
                    <a:lnT w="12700" cap="flat" cmpd="sng" algn="ctr">
                      <a:solidFill>
                        <a:srgbClr val="16FFBB"/>
                      </a:solidFill>
                      <a:prstDash val="solid"/>
                      <a:round/>
                      <a:headEnd type="none" w="med" len="med"/>
                      <a:tailEnd type="none" w="med" len="med"/>
                    </a:lnT>
                    <a:lnB w="12700" cap="flat" cmpd="sng" algn="ctr">
                      <a:solidFill>
                        <a:srgbClr val="16FFBB"/>
                      </a:solidFill>
                      <a:prstDash val="solid"/>
                      <a:round/>
                      <a:headEnd type="none" w="med" len="med"/>
                      <a:tailEnd type="none" w="med" len="med"/>
                    </a:lnB>
                  </a:tcPr>
                </a:tc>
                <a:tc>
                  <a:txBody>
                    <a:bodyPr/>
                    <a:lstStyle/>
                    <a:p>
                      <a:pPr indent="0" marL="0">
                        <a:buNone/>
                      </a:pPr>
                      <a:r>
                        <a:rPr lang="en-US" sz="1400" dirty="0">
                          <a:solidFill>
                            <a:srgbClr val="E0E4E6"/>
                          </a:solidFill>
                          <a:latin typeface="Consolas" pitchFamily="34" charset="0"/>
                          <a:ea typeface="Consolas" pitchFamily="34" charset="-122"/>
                          <a:cs typeface="Consolas" pitchFamily="34" charset="-120"/>
                        </a:rPr>
                        <a:t>00000101</a:t>
                      </a:r>
                      <a:pPr indent="0" marL="0">
                        <a:buNone/>
                      </a:pPr>
                      <a:r>
                        <a:rPr lang="en-US" sz="1400" dirty="0">
                          <a:solidFill>
                            <a:srgbClr val="E0E4E6"/>
                          </a:solidFill>
                          <a:latin typeface="Barlow" pitchFamily="34" charset="0"/>
                          <a:ea typeface="Barlow" pitchFamily="34" charset="-122"/>
                          <a:cs typeface="Barlow" pitchFamily="34" charset="-120"/>
                        </a:rPr>
                        <a:t> + </a:t>
                      </a:r>
                      <a:pPr indent="0" marL="0">
                        <a:buNone/>
                      </a:pPr>
                      <a:r>
                        <a:rPr lang="en-US" sz="1400" dirty="0">
                          <a:solidFill>
                            <a:srgbClr val="E0E4E6"/>
                          </a:solidFill>
                          <a:latin typeface="Consolas" pitchFamily="34" charset="0"/>
                          <a:ea typeface="Consolas" pitchFamily="34" charset="-122"/>
                          <a:cs typeface="Consolas" pitchFamily="34" charset="-120"/>
                        </a:rPr>
                        <a:t>00000011</a:t>
                      </a:r>
                      <a:endParaRPr lang="en-US" sz="1400" dirty="0">
                        <a:latin typeface="Consolas" charset="0"/>
                        <a:ea typeface="Consolas" charset="0"/>
                        <a:cs typeface="Consolas" charset="0"/>
                      </a:endParaRPr>
                    </a:p>
                  </a:txBody>
                  <a:tcPr marL="178330" marR="178330" marT="6350" marB="6350" anchor="ctr">
                    <a:lnL w="12700" cap="flat" cmpd="sng" algn="ctr">
                      <a:solidFill>
                        <a:srgbClr val="16FFBB"/>
                      </a:solidFill>
                      <a:prstDash val="solid"/>
                      <a:round/>
                      <a:headEnd type="none" w="med" len="med"/>
                      <a:tailEnd type="none" w="med" len="med"/>
                    </a:lnL>
                    <a:lnR w="12700" cap="flat" cmpd="sng" algn="ctr">
                      <a:solidFill>
                        <a:srgbClr val="16FFBB"/>
                      </a:solidFill>
                      <a:prstDash val="solid"/>
                      <a:round/>
                      <a:headEnd type="none" w="med" len="med"/>
                      <a:tailEnd type="none" w="med" len="med"/>
                    </a:lnR>
                    <a:lnT w="12700" cap="flat" cmpd="sng" algn="ctr">
                      <a:solidFill>
                        <a:srgbClr val="16FFBB"/>
                      </a:solidFill>
                      <a:prstDash val="solid"/>
                      <a:round/>
                      <a:headEnd type="none" w="med" len="med"/>
                      <a:tailEnd type="none" w="med" len="med"/>
                    </a:lnT>
                    <a:lnB w="12700" cap="flat" cmpd="sng" algn="ctr">
                      <a:solidFill>
                        <a:srgbClr val="16FFBB"/>
                      </a:solidFill>
                      <a:prstDash val="solid"/>
                      <a:round/>
                      <a:headEnd type="none" w="med" len="med"/>
                      <a:tailEnd type="none" w="med" len="med"/>
                    </a:lnB>
                  </a:tcPr>
                </a:tc>
                <a:tc>
                  <a:txBody>
                    <a:bodyPr/>
                    <a:lstStyle/>
                    <a:p>
                      <a:pPr indent="0" marL="0">
                        <a:buNone/>
                      </a:pPr>
                      <a:r>
                        <a:rPr lang="en-US" sz="1400" dirty="0">
                          <a:solidFill>
                            <a:srgbClr val="E0E4E6"/>
                          </a:solidFill>
                          <a:latin typeface="Consolas" pitchFamily="34" charset="0"/>
                          <a:ea typeface="Consolas" pitchFamily="34" charset="-122"/>
                          <a:cs typeface="Consolas" pitchFamily="34" charset="-120"/>
                        </a:rPr>
                        <a:t>00001000</a:t>
                      </a:r>
                      <a:endParaRPr lang="en-US" sz="1400" dirty="0">
                        <a:latin typeface="Consolas" charset="0"/>
                        <a:ea typeface="Consolas" charset="0"/>
                        <a:cs typeface="Consolas" charset="0"/>
                      </a:endParaRPr>
                    </a:p>
                  </a:txBody>
                  <a:tcPr marL="178330" marR="178330" marT="6350" marB="6350" anchor="ctr">
                    <a:lnL w="12700" cap="flat" cmpd="sng" algn="ctr">
                      <a:solidFill>
                        <a:srgbClr val="16FFBB"/>
                      </a:solidFill>
                      <a:prstDash val="solid"/>
                      <a:round/>
                      <a:headEnd type="none" w="med" len="med"/>
                      <a:tailEnd type="none" w="med" len="med"/>
                    </a:lnL>
                    <a:lnR w="12700" cap="flat" cmpd="sng" algn="ctr">
                      <a:solidFill>
                        <a:srgbClr val="16FFBB"/>
                      </a:solidFill>
                      <a:prstDash val="solid"/>
                      <a:round/>
                      <a:headEnd type="none" w="med" len="med"/>
                      <a:tailEnd type="none" w="med" len="med"/>
                    </a:lnR>
                    <a:lnT w="12700" cap="flat" cmpd="sng" algn="ctr">
                      <a:solidFill>
                        <a:srgbClr val="16FFBB"/>
                      </a:solidFill>
                      <a:prstDash val="solid"/>
                      <a:round/>
                      <a:headEnd type="none" w="med" len="med"/>
                      <a:tailEnd type="none" w="med" len="med"/>
                    </a:lnT>
                    <a:lnB w="12700" cap="flat" cmpd="sng" algn="ctr">
                      <a:solidFill>
                        <a:srgbClr val="16FFBB"/>
                      </a:solidFill>
                      <a:prstDash val="solid"/>
                      <a:round/>
                      <a:headEnd type="none" w="med" len="med"/>
                      <a:tailEnd type="none" w="med" len="med"/>
                    </a:lnB>
                  </a:tcPr>
                </a:tc>
                <a:tc>
                  <a:txBody>
                    <a:bodyPr/>
                    <a:lstStyle/>
                    <a:p>
                      <a:pPr indent="0" marL="0">
                        <a:buNone/>
                      </a:pPr>
                      <a:r>
                        <a:rPr lang="en-US" sz="1400" dirty="0">
                          <a:solidFill>
                            <a:srgbClr val="E0E4E6"/>
                          </a:solidFill>
                          <a:latin typeface="Consolas" pitchFamily="34" charset="0"/>
                          <a:ea typeface="Consolas" pitchFamily="34" charset="-122"/>
                          <a:cs typeface="Consolas" pitchFamily="34" charset="-120"/>
                        </a:rPr>
                        <a:t>00001000</a:t>
                      </a:r>
                      <a:endParaRPr lang="en-US" sz="1400" dirty="0">
                        <a:latin typeface="Consolas" charset="0"/>
                        <a:ea typeface="Consolas" charset="0"/>
                        <a:cs typeface="Consolas" charset="0"/>
                      </a:endParaRPr>
                    </a:p>
                  </a:txBody>
                  <a:tcPr marL="178330" marR="178330" marT="6350" marB="6350" anchor="ctr">
                    <a:lnL w="12700" cap="flat" cmpd="sng" algn="ctr">
                      <a:solidFill>
                        <a:srgbClr val="16FFBB"/>
                      </a:solidFill>
                      <a:prstDash val="solid"/>
                      <a:round/>
                      <a:headEnd type="none" w="med" len="med"/>
                      <a:tailEnd type="none" w="med" len="med"/>
                    </a:lnL>
                    <a:lnR w="12700" cap="flat" cmpd="sng" algn="ctr">
                      <a:solidFill>
                        <a:srgbClr val="16FFBB"/>
                      </a:solidFill>
                      <a:prstDash val="solid"/>
                      <a:round/>
                      <a:headEnd type="none" w="med" len="med"/>
                      <a:tailEnd type="none" w="med" len="med"/>
                    </a:lnR>
                    <a:lnT w="12700" cap="flat" cmpd="sng" algn="ctr">
                      <a:solidFill>
                        <a:srgbClr val="16FFBB"/>
                      </a:solidFill>
                      <a:prstDash val="solid"/>
                      <a:round/>
                      <a:headEnd type="none" w="med" len="med"/>
                      <a:tailEnd type="none" w="med" len="med"/>
                    </a:lnT>
                    <a:lnB w="12700" cap="flat" cmpd="sng" algn="ctr">
                      <a:solidFill>
                        <a:srgbClr val="16FFBB"/>
                      </a:solidFill>
                      <a:prstDash val="solid"/>
                      <a:round/>
                      <a:headEnd type="none" w="med" len="med"/>
                      <a:tailEnd type="none" w="med" len="med"/>
                    </a:lnB>
                  </a:tcPr>
                </a:tc>
                <a:tc>
                  <a:txBody>
                    <a:bodyPr/>
                    <a:lstStyle/>
                    <a:p>
                      <a:pPr indent="0" marL="0">
                        <a:buNone/>
                      </a:pPr>
                      <a:r>
                        <a:rPr lang="en-US" sz="1400" dirty="0">
                          <a:solidFill>
                            <a:srgbClr val="E0E4E6"/>
                          </a:solidFill>
                          <a:latin typeface="Barlow" pitchFamily="34" charset="0"/>
                          <a:ea typeface="Barlow" pitchFamily="34" charset="-122"/>
                          <a:cs typeface="Barlow" pitchFamily="34" charset="-120"/>
                        </a:rPr>
                        <a:t>✓</a:t>
                      </a:r>
                      <a:endParaRPr lang="en-US" sz="1400" dirty="0">
                        <a:latin typeface="Barlow" charset="0"/>
                        <a:ea typeface="Barlow" charset="0"/>
                        <a:cs typeface="Barlow" charset="0"/>
                      </a:endParaRPr>
                    </a:p>
                  </a:txBody>
                  <a:tcPr marL="178330" marR="178330" marT="6350" marB="6350" anchor="ctr">
                    <a:lnL w="12700" cap="flat" cmpd="sng" algn="ctr">
                      <a:solidFill>
                        <a:srgbClr val="16FFBB"/>
                      </a:solidFill>
                      <a:prstDash val="solid"/>
                      <a:round/>
                      <a:headEnd type="none" w="med" len="med"/>
                      <a:tailEnd type="none" w="med" len="med"/>
                    </a:lnL>
                    <a:lnR w="12700" cap="flat" cmpd="sng" algn="ctr">
                      <a:solidFill>
                        <a:srgbClr val="16FFBB"/>
                      </a:solidFill>
                      <a:prstDash val="solid"/>
                      <a:round/>
                      <a:headEnd type="none" w="med" len="med"/>
                      <a:tailEnd type="none" w="med" len="med"/>
                    </a:lnR>
                    <a:lnT w="12700" cap="flat" cmpd="sng" algn="ctr">
                      <a:solidFill>
                        <a:srgbClr val="16FFBB"/>
                      </a:solidFill>
                      <a:prstDash val="solid"/>
                      <a:round/>
                      <a:headEnd type="none" w="med" len="med"/>
                      <a:tailEnd type="none" w="med" len="med"/>
                    </a:lnT>
                    <a:lnB w="12700" cap="flat" cmpd="sng" algn="ctr">
                      <a:solidFill>
                        <a:srgbClr val="16FFBB"/>
                      </a:solidFill>
                      <a:prstDash val="solid"/>
                      <a:round/>
                      <a:headEnd type="none" w="med" len="med"/>
                      <a:tailEnd type="none" w="med" len="med"/>
                    </a:lnB>
                  </a:tcPr>
                </a:tc>
              </a:tr>
              <a:tr h="464630">
                <a:tc>
                  <a:txBody>
                    <a:bodyPr/>
                    <a:lstStyle/>
                    <a:p>
                      <a:pPr indent="0" marL="0">
                        <a:buNone/>
                      </a:pPr>
                      <a:r>
                        <a:rPr lang="en-US" sz="1400" dirty="0">
                          <a:solidFill>
                            <a:srgbClr val="E0E4E6"/>
                          </a:solidFill>
                          <a:latin typeface="Barlow" pitchFamily="34" charset="0"/>
                          <a:ea typeface="Barlow" pitchFamily="34" charset="-122"/>
                          <a:cs typeface="Barlow" pitchFamily="34" charset="-120"/>
                        </a:rPr>
                        <a:t>2</a:t>
                      </a:r>
                      <a:endParaRPr lang="en-US" sz="1400" dirty="0">
                        <a:latin typeface="Barlow" charset="0"/>
                        <a:ea typeface="Barlow" charset="0"/>
                        <a:cs typeface="Barlow" charset="0"/>
                      </a:endParaRPr>
                    </a:p>
                  </a:txBody>
                  <a:tcPr marL="178330" marR="178330" marT="6350" marB="6350" anchor="ctr">
                    <a:lnL w="12700" cap="flat" cmpd="sng" algn="ctr">
                      <a:solidFill>
                        <a:srgbClr val="16FFBB"/>
                      </a:solidFill>
                      <a:prstDash val="solid"/>
                      <a:round/>
                      <a:headEnd type="none" w="med" len="med"/>
                      <a:tailEnd type="none" w="med" len="med"/>
                    </a:lnL>
                    <a:lnR w="12700" cap="flat" cmpd="sng" algn="ctr">
                      <a:solidFill>
                        <a:srgbClr val="16FFBB"/>
                      </a:solidFill>
                      <a:prstDash val="solid"/>
                      <a:round/>
                      <a:headEnd type="none" w="med" len="med"/>
                      <a:tailEnd type="none" w="med" len="med"/>
                    </a:lnR>
                    <a:lnT w="12700" cap="flat" cmpd="sng" algn="ctr">
                      <a:solidFill>
                        <a:srgbClr val="16FFBB"/>
                      </a:solidFill>
                      <a:prstDash val="solid"/>
                      <a:round/>
                      <a:headEnd type="none" w="med" len="med"/>
                      <a:tailEnd type="none" w="med" len="med"/>
                    </a:lnT>
                    <a:lnB w="12700" cap="flat" cmpd="sng" algn="ctr">
                      <a:solidFill>
                        <a:srgbClr val="16FFBB"/>
                      </a:solidFill>
                      <a:prstDash val="solid"/>
                      <a:round/>
                      <a:headEnd type="none" w="med" len="med"/>
                      <a:tailEnd type="none" w="med" len="med"/>
                    </a:lnB>
                  </a:tcPr>
                </a:tc>
                <a:tc>
                  <a:txBody>
                    <a:bodyPr/>
                    <a:lstStyle/>
                    <a:p>
                      <a:pPr indent="0" marL="0">
                        <a:buNone/>
                      </a:pPr>
                      <a:r>
                        <a:rPr lang="en-US" sz="1400" dirty="0">
                          <a:solidFill>
                            <a:srgbClr val="E0E4E6"/>
                          </a:solidFill>
                          <a:latin typeface="Barlow" pitchFamily="34" charset="0"/>
                          <a:ea typeface="Barlow" pitchFamily="34" charset="-122"/>
                          <a:cs typeface="Barlow" pitchFamily="34" charset="-120"/>
                        </a:rPr>
                        <a:t>-5 + 3 = -2</a:t>
                      </a:r>
                      <a:endParaRPr lang="en-US" sz="1400" dirty="0">
                        <a:latin typeface="Barlow" charset="0"/>
                        <a:ea typeface="Barlow" charset="0"/>
                        <a:cs typeface="Barlow" charset="0"/>
                      </a:endParaRPr>
                    </a:p>
                  </a:txBody>
                  <a:tcPr marL="178330" marR="178330" marT="6350" marB="6350" anchor="ctr">
                    <a:lnL w="12700" cap="flat" cmpd="sng" algn="ctr">
                      <a:solidFill>
                        <a:srgbClr val="16FFBB"/>
                      </a:solidFill>
                      <a:prstDash val="solid"/>
                      <a:round/>
                      <a:headEnd type="none" w="med" len="med"/>
                      <a:tailEnd type="none" w="med" len="med"/>
                    </a:lnL>
                    <a:lnR w="12700" cap="flat" cmpd="sng" algn="ctr">
                      <a:solidFill>
                        <a:srgbClr val="16FFBB"/>
                      </a:solidFill>
                      <a:prstDash val="solid"/>
                      <a:round/>
                      <a:headEnd type="none" w="med" len="med"/>
                      <a:tailEnd type="none" w="med" len="med"/>
                    </a:lnR>
                    <a:lnT w="12700" cap="flat" cmpd="sng" algn="ctr">
                      <a:solidFill>
                        <a:srgbClr val="16FFBB"/>
                      </a:solidFill>
                      <a:prstDash val="solid"/>
                      <a:round/>
                      <a:headEnd type="none" w="med" len="med"/>
                      <a:tailEnd type="none" w="med" len="med"/>
                    </a:lnT>
                    <a:lnB w="12700" cap="flat" cmpd="sng" algn="ctr">
                      <a:solidFill>
                        <a:srgbClr val="16FFBB"/>
                      </a:solidFill>
                      <a:prstDash val="solid"/>
                      <a:round/>
                      <a:headEnd type="none" w="med" len="med"/>
                      <a:tailEnd type="none" w="med" len="med"/>
                    </a:lnB>
                  </a:tcPr>
                </a:tc>
                <a:tc>
                  <a:txBody>
                    <a:bodyPr/>
                    <a:lstStyle/>
                    <a:p>
                      <a:pPr indent="0" marL="0">
                        <a:buNone/>
                      </a:pPr>
                      <a:r>
                        <a:rPr lang="en-US" sz="1400" dirty="0">
                          <a:solidFill>
                            <a:srgbClr val="E0E4E6"/>
                          </a:solidFill>
                          <a:latin typeface="Consolas" pitchFamily="34" charset="0"/>
                          <a:ea typeface="Consolas" pitchFamily="34" charset="-122"/>
                          <a:cs typeface="Consolas" pitchFamily="34" charset="-120"/>
                        </a:rPr>
                        <a:t>11111011</a:t>
                      </a:r>
                      <a:pPr indent="0" marL="0">
                        <a:buNone/>
                      </a:pPr>
                      <a:r>
                        <a:rPr lang="en-US" sz="1400" dirty="0">
                          <a:solidFill>
                            <a:srgbClr val="E0E4E6"/>
                          </a:solidFill>
                          <a:latin typeface="Barlow" pitchFamily="34" charset="0"/>
                          <a:ea typeface="Barlow" pitchFamily="34" charset="-122"/>
                          <a:cs typeface="Barlow" pitchFamily="34" charset="-120"/>
                        </a:rPr>
                        <a:t> + </a:t>
                      </a:r>
                      <a:pPr indent="0" marL="0">
                        <a:buNone/>
                      </a:pPr>
                      <a:r>
                        <a:rPr lang="en-US" sz="1400" dirty="0">
                          <a:solidFill>
                            <a:srgbClr val="E0E4E6"/>
                          </a:solidFill>
                          <a:latin typeface="Consolas" pitchFamily="34" charset="0"/>
                          <a:ea typeface="Consolas" pitchFamily="34" charset="-122"/>
                          <a:cs typeface="Consolas" pitchFamily="34" charset="-120"/>
                        </a:rPr>
                        <a:t>00000011</a:t>
                      </a:r>
                      <a:endParaRPr lang="en-US" sz="1400" dirty="0">
                        <a:latin typeface="Consolas" charset="0"/>
                        <a:ea typeface="Consolas" charset="0"/>
                        <a:cs typeface="Consolas" charset="0"/>
                      </a:endParaRPr>
                    </a:p>
                  </a:txBody>
                  <a:tcPr marL="178330" marR="178330" marT="6350" marB="6350" anchor="ctr">
                    <a:lnL w="12700" cap="flat" cmpd="sng" algn="ctr">
                      <a:solidFill>
                        <a:srgbClr val="16FFBB"/>
                      </a:solidFill>
                      <a:prstDash val="solid"/>
                      <a:round/>
                      <a:headEnd type="none" w="med" len="med"/>
                      <a:tailEnd type="none" w="med" len="med"/>
                    </a:lnL>
                    <a:lnR w="12700" cap="flat" cmpd="sng" algn="ctr">
                      <a:solidFill>
                        <a:srgbClr val="16FFBB"/>
                      </a:solidFill>
                      <a:prstDash val="solid"/>
                      <a:round/>
                      <a:headEnd type="none" w="med" len="med"/>
                      <a:tailEnd type="none" w="med" len="med"/>
                    </a:lnR>
                    <a:lnT w="12700" cap="flat" cmpd="sng" algn="ctr">
                      <a:solidFill>
                        <a:srgbClr val="16FFBB"/>
                      </a:solidFill>
                      <a:prstDash val="solid"/>
                      <a:round/>
                      <a:headEnd type="none" w="med" len="med"/>
                      <a:tailEnd type="none" w="med" len="med"/>
                    </a:lnT>
                    <a:lnB w="12700" cap="flat" cmpd="sng" algn="ctr">
                      <a:solidFill>
                        <a:srgbClr val="16FFBB"/>
                      </a:solidFill>
                      <a:prstDash val="solid"/>
                      <a:round/>
                      <a:headEnd type="none" w="med" len="med"/>
                      <a:tailEnd type="none" w="med" len="med"/>
                    </a:lnB>
                  </a:tcPr>
                </a:tc>
                <a:tc>
                  <a:txBody>
                    <a:bodyPr/>
                    <a:lstStyle/>
                    <a:p>
                      <a:pPr indent="0" marL="0">
                        <a:buNone/>
                      </a:pPr>
                      <a:r>
                        <a:rPr lang="en-US" sz="1400" dirty="0">
                          <a:solidFill>
                            <a:srgbClr val="E0E4E6"/>
                          </a:solidFill>
                          <a:latin typeface="Consolas" pitchFamily="34" charset="0"/>
                          <a:ea typeface="Consolas" pitchFamily="34" charset="-122"/>
                          <a:cs typeface="Consolas" pitchFamily="34" charset="-120"/>
                        </a:rPr>
                        <a:t>11111110</a:t>
                      </a:r>
                      <a:endParaRPr lang="en-US" sz="1400" dirty="0">
                        <a:latin typeface="Consolas" charset="0"/>
                        <a:ea typeface="Consolas" charset="0"/>
                        <a:cs typeface="Consolas" charset="0"/>
                      </a:endParaRPr>
                    </a:p>
                  </a:txBody>
                  <a:tcPr marL="178330" marR="178330" marT="6350" marB="6350" anchor="ctr">
                    <a:lnL w="12700" cap="flat" cmpd="sng" algn="ctr">
                      <a:solidFill>
                        <a:srgbClr val="16FFBB"/>
                      </a:solidFill>
                      <a:prstDash val="solid"/>
                      <a:round/>
                      <a:headEnd type="none" w="med" len="med"/>
                      <a:tailEnd type="none" w="med" len="med"/>
                    </a:lnL>
                    <a:lnR w="12700" cap="flat" cmpd="sng" algn="ctr">
                      <a:solidFill>
                        <a:srgbClr val="16FFBB"/>
                      </a:solidFill>
                      <a:prstDash val="solid"/>
                      <a:round/>
                      <a:headEnd type="none" w="med" len="med"/>
                      <a:tailEnd type="none" w="med" len="med"/>
                    </a:lnR>
                    <a:lnT w="12700" cap="flat" cmpd="sng" algn="ctr">
                      <a:solidFill>
                        <a:srgbClr val="16FFBB"/>
                      </a:solidFill>
                      <a:prstDash val="solid"/>
                      <a:round/>
                      <a:headEnd type="none" w="med" len="med"/>
                      <a:tailEnd type="none" w="med" len="med"/>
                    </a:lnT>
                    <a:lnB w="12700" cap="flat" cmpd="sng" algn="ctr">
                      <a:solidFill>
                        <a:srgbClr val="16FFBB"/>
                      </a:solidFill>
                      <a:prstDash val="solid"/>
                      <a:round/>
                      <a:headEnd type="none" w="med" len="med"/>
                      <a:tailEnd type="none" w="med" len="med"/>
                    </a:lnB>
                  </a:tcPr>
                </a:tc>
                <a:tc>
                  <a:txBody>
                    <a:bodyPr/>
                    <a:lstStyle/>
                    <a:p>
                      <a:pPr indent="0" marL="0">
                        <a:buNone/>
                      </a:pPr>
                      <a:r>
                        <a:rPr lang="en-US" sz="1400" dirty="0">
                          <a:solidFill>
                            <a:srgbClr val="E0E4E6"/>
                          </a:solidFill>
                          <a:latin typeface="Consolas" pitchFamily="34" charset="0"/>
                          <a:ea typeface="Consolas" pitchFamily="34" charset="-122"/>
                          <a:cs typeface="Consolas" pitchFamily="34" charset="-120"/>
                        </a:rPr>
                        <a:t>11111110</a:t>
                      </a:r>
                      <a:endParaRPr lang="en-US" sz="1400" dirty="0">
                        <a:latin typeface="Consolas" charset="0"/>
                        <a:ea typeface="Consolas" charset="0"/>
                        <a:cs typeface="Consolas" charset="0"/>
                      </a:endParaRPr>
                    </a:p>
                  </a:txBody>
                  <a:tcPr marL="178330" marR="178330" marT="6350" marB="6350" anchor="ctr">
                    <a:lnL w="12700" cap="flat" cmpd="sng" algn="ctr">
                      <a:solidFill>
                        <a:srgbClr val="16FFBB"/>
                      </a:solidFill>
                      <a:prstDash val="solid"/>
                      <a:round/>
                      <a:headEnd type="none" w="med" len="med"/>
                      <a:tailEnd type="none" w="med" len="med"/>
                    </a:lnL>
                    <a:lnR w="12700" cap="flat" cmpd="sng" algn="ctr">
                      <a:solidFill>
                        <a:srgbClr val="16FFBB"/>
                      </a:solidFill>
                      <a:prstDash val="solid"/>
                      <a:round/>
                      <a:headEnd type="none" w="med" len="med"/>
                      <a:tailEnd type="none" w="med" len="med"/>
                    </a:lnR>
                    <a:lnT w="12700" cap="flat" cmpd="sng" algn="ctr">
                      <a:solidFill>
                        <a:srgbClr val="16FFBB"/>
                      </a:solidFill>
                      <a:prstDash val="solid"/>
                      <a:round/>
                      <a:headEnd type="none" w="med" len="med"/>
                      <a:tailEnd type="none" w="med" len="med"/>
                    </a:lnT>
                    <a:lnB w="12700" cap="flat" cmpd="sng" algn="ctr">
                      <a:solidFill>
                        <a:srgbClr val="16FFBB"/>
                      </a:solidFill>
                      <a:prstDash val="solid"/>
                      <a:round/>
                      <a:headEnd type="none" w="med" len="med"/>
                      <a:tailEnd type="none" w="med" len="med"/>
                    </a:lnB>
                  </a:tcPr>
                </a:tc>
                <a:tc>
                  <a:txBody>
                    <a:bodyPr/>
                    <a:lstStyle/>
                    <a:p>
                      <a:pPr indent="0" marL="0">
                        <a:buNone/>
                      </a:pPr>
                      <a:r>
                        <a:rPr lang="en-US" sz="1400" dirty="0">
                          <a:solidFill>
                            <a:srgbClr val="E0E4E6"/>
                          </a:solidFill>
                          <a:latin typeface="Barlow" pitchFamily="34" charset="0"/>
                          <a:ea typeface="Barlow" pitchFamily="34" charset="-122"/>
                          <a:cs typeface="Barlow" pitchFamily="34" charset="-120"/>
                        </a:rPr>
                        <a:t>✓</a:t>
                      </a:r>
                      <a:endParaRPr lang="en-US" sz="1400" dirty="0">
                        <a:latin typeface="Barlow" charset="0"/>
                        <a:ea typeface="Barlow" charset="0"/>
                        <a:cs typeface="Barlow" charset="0"/>
                      </a:endParaRPr>
                    </a:p>
                  </a:txBody>
                  <a:tcPr marL="178330" marR="178330" marT="6350" marB="6350" anchor="ctr">
                    <a:lnL w="12700" cap="flat" cmpd="sng" algn="ctr">
                      <a:solidFill>
                        <a:srgbClr val="16FFBB"/>
                      </a:solidFill>
                      <a:prstDash val="solid"/>
                      <a:round/>
                      <a:headEnd type="none" w="med" len="med"/>
                      <a:tailEnd type="none" w="med" len="med"/>
                    </a:lnL>
                    <a:lnR w="12700" cap="flat" cmpd="sng" algn="ctr">
                      <a:solidFill>
                        <a:srgbClr val="16FFBB"/>
                      </a:solidFill>
                      <a:prstDash val="solid"/>
                      <a:round/>
                      <a:headEnd type="none" w="med" len="med"/>
                      <a:tailEnd type="none" w="med" len="med"/>
                    </a:lnR>
                    <a:lnT w="12700" cap="flat" cmpd="sng" algn="ctr">
                      <a:solidFill>
                        <a:srgbClr val="16FFBB"/>
                      </a:solidFill>
                      <a:prstDash val="solid"/>
                      <a:round/>
                      <a:headEnd type="none" w="med" len="med"/>
                      <a:tailEnd type="none" w="med" len="med"/>
                    </a:lnT>
                    <a:lnB w="12700" cap="flat" cmpd="sng" algn="ctr">
                      <a:solidFill>
                        <a:srgbClr val="16FFBB"/>
                      </a:solidFill>
                      <a:prstDash val="solid"/>
                      <a:round/>
                      <a:headEnd type="none" w="med" len="med"/>
                      <a:tailEnd type="none" w="med" len="med"/>
                    </a:lnB>
                  </a:tcPr>
                </a:tc>
              </a:tr>
              <a:tr h="464630">
                <a:tc>
                  <a:txBody>
                    <a:bodyPr/>
                    <a:lstStyle/>
                    <a:p>
                      <a:pPr indent="0" marL="0">
                        <a:buNone/>
                      </a:pPr>
                      <a:r>
                        <a:rPr lang="en-US" sz="1400" dirty="0">
                          <a:solidFill>
                            <a:srgbClr val="E0E4E6"/>
                          </a:solidFill>
                          <a:latin typeface="Barlow" pitchFamily="34" charset="0"/>
                          <a:ea typeface="Barlow" pitchFamily="34" charset="-122"/>
                          <a:cs typeface="Barlow" pitchFamily="34" charset="-120"/>
                        </a:rPr>
                        <a:t>3</a:t>
                      </a:r>
                      <a:endParaRPr lang="en-US" sz="1400" dirty="0">
                        <a:latin typeface="Barlow" charset="0"/>
                        <a:ea typeface="Barlow" charset="0"/>
                        <a:cs typeface="Barlow" charset="0"/>
                      </a:endParaRPr>
                    </a:p>
                  </a:txBody>
                  <a:tcPr marL="178330" marR="178330" marT="6350" marB="6350" anchor="ctr">
                    <a:lnL w="12700" cap="flat" cmpd="sng" algn="ctr">
                      <a:solidFill>
                        <a:srgbClr val="16FFBB"/>
                      </a:solidFill>
                      <a:prstDash val="solid"/>
                      <a:round/>
                      <a:headEnd type="none" w="med" len="med"/>
                      <a:tailEnd type="none" w="med" len="med"/>
                    </a:lnL>
                    <a:lnR w="12700" cap="flat" cmpd="sng" algn="ctr">
                      <a:solidFill>
                        <a:srgbClr val="16FFBB"/>
                      </a:solidFill>
                      <a:prstDash val="solid"/>
                      <a:round/>
                      <a:headEnd type="none" w="med" len="med"/>
                      <a:tailEnd type="none" w="med" len="med"/>
                    </a:lnR>
                    <a:lnT w="12700" cap="flat" cmpd="sng" algn="ctr">
                      <a:solidFill>
                        <a:srgbClr val="16FFBB"/>
                      </a:solidFill>
                      <a:prstDash val="solid"/>
                      <a:round/>
                      <a:headEnd type="none" w="med" len="med"/>
                      <a:tailEnd type="none" w="med" len="med"/>
                    </a:lnT>
                    <a:lnB w="12700" cap="flat" cmpd="sng" algn="ctr">
                      <a:solidFill>
                        <a:srgbClr val="16FFBB"/>
                      </a:solidFill>
                      <a:prstDash val="solid"/>
                      <a:round/>
                      <a:headEnd type="none" w="med" len="med"/>
                      <a:tailEnd type="none" w="med" len="med"/>
                    </a:lnB>
                  </a:tcPr>
                </a:tc>
                <a:tc>
                  <a:txBody>
                    <a:bodyPr/>
                    <a:lstStyle/>
                    <a:p>
                      <a:pPr indent="0" marL="0">
                        <a:buNone/>
                      </a:pPr>
                      <a:r>
                        <a:rPr lang="en-US" sz="1400" dirty="0">
                          <a:solidFill>
                            <a:srgbClr val="E0E4E6"/>
                          </a:solidFill>
                          <a:latin typeface="Barlow" pitchFamily="34" charset="0"/>
                          <a:ea typeface="Barlow" pitchFamily="34" charset="-122"/>
                          <a:cs typeface="Barlow" pitchFamily="34" charset="-120"/>
                        </a:rPr>
                        <a:t>10 - 7 = 3</a:t>
                      </a:r>
                      <a:endParaRPr lang="en-US" sz="1400" dirty="0">
                        <a:latin typeface="Barlow" charset="0"/>
                        <a:ea typeface="Barlow" charset="0"/>
                        <a:cs typeface="Barlow" charset="0"/>
                      </a:endParaRPr>
                    </a:p>
                  </a:txBody>
                  <a:tcPr marL="178330" marR="178330" marT="6350" marB="6350" anchor="ctr">
                    <a:lnL w="12700" cap="flat" cmpd="sng" algn="ctr">
                      <a:solidFill>
                        <a:srgbClr val="16FFBB"/>
                      </a:solidFill>
                      <a:prstDash val="solid"/>
                      <a:round/>
                      <a:headEnd type="none" w="med" len="med"/>
                      <a:tailEnd type="none" w="med" len="med"/>
                    </a:lnL>
                    <a:lnR w="12700" cap="flat" cmpd="sng" algn="ctr">
                      <a:solidFill>
                        <a:srgbClr val="16FFBB"/>
                      </a:solidFill>
                      <a:prstDash val="solid"/>
                      <a:round/>
                      <a:headEnd type="none" w="med" len="med"/>
                      <a:tailEnd type="none" w="med" len="med"/>
                    </a:lnR>
                    <a:lnT w="12700" cap="flat" cmpd="sng" algn="ctr">
                      <a:solidFill>
                        <a:srgbClr val="16FFBB"/>
                      </a:solidFill>
                      <a:prstDash val="solid"/>
                      <a:round/>
                      <a:headEnd type="none" w="med" len="med"/>
                      <a:tailEnd type="none" w="med" len="med"/>
                    </a:lnT>
                    <a:lnB w="12700" cap="flat" cmpd="sng" algn="ctr">
                      <a:solidFill>
                        <a:srgbClr val="16FFBB"/>
                      </a:solidFill>
                      <a:prstDash val="solid"/>
                      <a:round/>
                      <a:headEnd type="none" w="med" len="med"/>
                      <a:tailEnd type="none" w="med" len="med"/>
                    </a:lnB>
                  </a:tcPr>
                </a:tc>
                <a:tc>
                  <a:txBody>
                    <a:bodyPr/>
                    <a:lstStyle/>
                    <a:p>
                      <a:pPr indent="0" marL="0">
                        <a:buNone/>
                      </a:pPr>
                      <a:r>
                        <a:rPr lang="en-US" sz="1400" dirty="0">
                          <a:solidFill>
                            <a:srgbClr val="E0E4E6"/>
                          </a:solidFill>
                          <a:latin typeface="Consolas" pitchFamily="34" charset="0"/>
                          <a:ea typeface="Consolas" pitchFamily="34" charset="-122"/>
                          <a:cs typeface="Consolas" pitchFamily="34" charset="-120"/>
                        </a:rPr>
                        <a:t>00001010</a:t>
                      </a:r>
                      <a:pPr indent="0" marL="0">
                        <a:buNone/>
                      </a:pPr>
                      <a:r>
                        <a:rPr lang="en-US" sz="1400" dirty="0">
                          <a:solidFill>
                            <a:srgbClr val="E0E4E6"/>
                          </a:solidFill>
                          <a:latin typeface="Barlow" pitchFamily="34" charset="0"/>
                          <a:ea typeface="Barlow" pitchFamily="34" charset="-122"/>
                          <a:cs typeface="Barlow" pitchFamily="34" charset="-120"/>
                        </a:rPr>
                        <a:t> - </a:t>
                      </a:r>
                      <a:pPr indent="0" marL="0">
                        <a:buNone/>
                      </a:pPr>
                      <a:r>
                        <a:rPr lang="en-US" sz="1400" dirty="0">
                          <a:solidFill>
                            <a:srgbClr val="E0E4E6"/>
                          </a:solidFill>
                          <a:latin typeface="Consolas" pitchFamily="34" charset="0"/>
                          <a:ea typeface="Consolas" pitchFamily="34" charset="-122"/>
                          <a:cs typeface="Consolas" pitchFamily="34" charset="-120"/>
                        </a:rPr>
                        <a:t>00000111</a:t>
                      </a:r>
                      <a:endParaRPr lang="en-US" sz="1400" dirty="0">
                        <a:latin typeface="Consolas" charset="0"/>
                        <a:ea typeface="Consolas" charset="0"/>
                        <a:cs typeface="Consolas" charset="0"/>
                      </a:endParaRPr>
                    </a:p>
                  </a:txBody>
                  <a:tcPr marL="178330" marR="178330" marT="6350" marB="6350" anchor="ctr">
                    <a:lnL w="12700" cap="flat" cmpd="sng" algn="ctr">
                      <a:solidFill>
                        <a:srgbClr val="16FFBB"/>
                      </a:solidFill>
                      <a:prstDash val="solid"/>
                      <a:round/>
                      <a:headEnd type="none" w="med" len="med"/>
                      <a:tailEnd type="none" w="med" len="med"/>
                    </a:lnL>
                    <a:lnR w="12700" cap="flat" cmpd="sng" algn="ctr">
                      <a:solidFill>
                        <a:srgbClr val="16FFBB"/>
                      </a:solidFill>
                      <a:prstDash val="solid"/>
                      <a:round/>
                      <a:headEnd type="none" w="med" len="med"/>
                      <a:tailEnd type="none" w="med" len="med"/>
                    </a:lnR>
                    <a:lnT w="12700" cap="flat" cmpd="sng" algn="ctr">
                      <a:solidFill>
                        <a:srgbClr val="16FFBB"/>
                      </a:solidFill>
                      <a:prstDash val="solid"/>
                      <a:round/>
                      <a:headEnd type="none" w="med" len="med"/>
                      <a:tailEnd type="none" w="med" len="med"/>
                    </a:lnT>
                    <a:lnB w="12700" cap="flat" cmpd="sng" algn="ctr">
                      <a:solidFill>
                        <a:srgbClr val="16FFBB"/>
                      </a:solidFill>
                      <a:prstDash val="solid"/>
                      <a:round/>
                      <a:headEnd type="none" w="med" len="med"/>
                      <a:tailEnd type="none" w="med" len="med"/>
                    </a:lnB>
                  </a:tcPr>
                </a:tc>
                <a:tc>
                  <a:txBody>
                    <a:bodyPr/>
                    <a:lstStyle/>
                    <a:p>
                      <a:pPr indent="0" marL="0">
                        <a:buNone/>
                      </a:pPr>
                      <a:r>
                        <a:rPr lang="en-US" sz="1400" dirty="0">
                          <a:solidFill>
                            <a:srgbClr val="E0E4E6"/>
                          </a:solidFill>
                          <a:latin typeface="Consolas" pitchFamily="34" charset="0"/>
                          <a:ea typeface="Consolas" pitchFamily="34" charset="-122"/>
                          <a:cs typeface="Consolas" pitchFamily="34" charset="-120"/>
                        </a:rPr>
                        <a:t>00000011</a:t>
                      </a:r>
                      <a:endParaRPr lang="en-US" sz="1400" dirty="0">
                        <a:latin typeface="Consolas" charset="0"/>
                        <a:ea typeface="Consolas" charset="0"/>
                        <a:cs typeface="Consolas" charset="0"/>
                      </a:endParaRPr>
                    </a:p>
                  </a:txBody>
                  <a:tcPr marL="178330" marR="178330" marT="6350" marB="6350" anchor="ctr">
                    <a:lnL w="12700" cap="flat" cmpd="sng" algn="ctr">
                      <a:solidFill>
                        <a:srgbClr val="16FFBB"/>
                      </a:solidFill>
                      <a:prstDash val="solid"/>
                      <a:round/>
                      <a:headEnd type="none" w="med" len="med"/>
                      <a:tailEnd type="none" w="med" len="med"/>
                    </a:lnL>
                    <a:lnR w="12700" cap="flat" cmpd="sng" algn="ctr">
                      <a:solidFill>
                        <a:srgbClr val="16FFBB"/>
                      </a:solidFill>
                      <a:prstDash val="solid"/>
                      <a:round/>
                      <a:headEnd type="none" w="med" len="med"/>
                      <a:tailEnd type="none" w="med" len="med"/>
                    </a:lnR>
                    <a:lnT w="12700" cap="flat" cmpd="sng" algn="ctr">
                      <a:solidFill>
                        <a:srgbClr val="16FFBB"/>
                      </a:solidFill>
                      <a:prstDash val="solid"/>
                      <a:round/>
                      <a:headEnd type="none" w="med" len="med"/>
                      <a:tailEnd type="none" w="med" len="med"/>
                    </a:lnT>
                    <a:lnB w="12700" cap="flat" cmpd="sng" algn="ctr">
                      <a:solidFill>
                        <a:srgbClr val="16FFBB"/>
                      </a:solidFill>
                      <a:prstDash val="solid"/>
                      <a:round/>
                      <a:headEnd type="none" w="med" len="med"/>
                      <a:tailEnd type="none" w="med" len="med"/>
                    </a:lnB>
                  </a:tcPr>
                </a:tc>
                <a:tc>
                  <a:txBody>
                    <a:bodyPr/>
                    <a:lstStyle/>
                    <a:p>
                      <a:pPr indent="0" marL="0">
                        <a:buNone/>
                      </a:pPr>
                      <a:r>
                        <a:rPr lang="en-US" sz="1400" dirty="0">
                          <a:solidFill>
                            <a:srgbClr val="E0E4E6"/>
                          </a:solidFill>
                          <a:latin typeface="Consolas" pitchFamily="34" charset="0"/>
                          <a:ea typeface="Consolas" pitchFamily="34" charset="-122"/>
                          <a:cs typeface="Consolas" pitchFamily="34" charset="-120"/>
                        </a:rPr>
                        <a:t>00000011</a:t>
                      </a:r>
                      <a:endParaRPr lang="en-US" sz="1400" dirty="0">
                        <a:latin typeface="Consolas" charset="0"/>
                        <a:ea typeface="Consolas" charset="0"/>
                        <a:cs typeface="Consolas" charset="0"/>
                      </a:endParaRPr>
                    </a:p>
                  </a:txBody>
                  <a:tcPr marL="178330" marR="178330" marT="6350" marB="6350" anchor="ctr">
                    <a:lnL w="12700" cap="flat" cmpd="sng" algn="ctr">
                      <a:solidFill>
                        <a:srgbClr val="16FFBB"/>
                      </a:solidFill>
                      <a:prstDash val="solid"/>
                      <a:round/>
                      <a:headEnd type="none" w="med" len="med"/>
                      <a:tailEnd type="none" w="med" len="med"/>
                    </a:lnL>
                    <a:lnR w="12700" cap="flat" cmpd="sng" algn="ctr">
                      <a:solidFill>
                        <a:srgbClr val="16FFBB"/>
                      </a:solidFill>
                      <a:prstDash val="solid"/>
                      <a:round/>
                      <a:headEnd type="none" w="med" len="med"/>
                      <a:tailEnd type="none" w="med" len="med"/>
                    </a:lnR>
                    <a:lnT w="12700" cap="flat" cmpd="sng" algn="ctr">
                      <a:solidFill>
                        <a:srgbClr val="16FFBB"/>
                      </a:solidFill>
                      <a:prstDash val="solid"/>
                      <a:round/>
                      <a:headEnd type="none" w="med" len="med"/>
                      <a:tailEnd type="none" w="med" len="med"/>
                    </a:lnT>
                    <a:lnB w="12700" cap="flat" cmpd="sng" algn="ctr">
                      <a:solidFill>
                        <a:srgbClr val="16FFBB"/>
                      </a:solidFill>
                      <a:prstDash val="solid"/>
                      <a:round/>
                      <a:headEnd type="none" w="med" len="med"/>
                      <a:tailEnd type="none" w="med" len="med"/>
                    </a:lnB>
                  </a:tcPr>
                </a:tc>
                <a:tc>
                  <a:txBody>
                    <a:bodyPr/>
                    <a:lstStyle/>
                    <a:p>
                      <a:pPr indent="0" marL="0">
                        <a:buNone/>
                      </a:pPr>
                      <a:r>
                        <a:rPr lang="en-US" sz="1400" dirty="0">
                          <a:solidFill>
                            <a:srgbClr val="E0E4E6"/>
                          </a:solidFill>
                          <a:latin typeface="Barlow" pitchFamily="34" charset="0"/>
                          <a:ea typeface="Barlow" pitchFamily="34" charset="-122"/>
                          <a:cs typeface="Barlow" pitchFamily="34" charset="-120"/>
                        </a:rPr>
                        <a:t>✓</a:t>
                      </a:r>
                      <a:endParaRPr lang="en-US" sz="1400" dirty="0">
                        <a:latin typeface="Barlow" charset="0"/>
                        <a:ea typeface="Barlow" charset="0"/>
                        <a:cs typeface="Barlow" charset="0"/>
                      </a:endParaRPr>
                    </a:p>
                  </a:txBody>
                  <a:tcPr marL="178330" marR="178330" marT="6350" marB="6350" anchor="ctr">
                    <a:lnL w="12700" cap="flat" cmpd="sng" algn="ctr">
                      <a:solidFill>
                        <a:srgbClr val="16FFBB"/>
                      </a:solidFill>
                      <a:prstDash val="solid"/>
                      <a:round/>
                      <a:headEnd type="none" w="med" len="med"/>
                      <a:tailEnd type="none" w="med" len="med"/>
                    </a:lnL>
                    <a:lnR w="12700" cap="flat" cmpd="sng" algn="ctr">
                      <a:solidFill>
                        <a:srgbClr val="16FFBB"/>
                      </a:solidFill>
                      <a:prstDash val="solid"/>
                      <a:round/>
                      <a:headEnd type="none" w="med" len="med"/>
                      <a:tailEnd type="none" w="med" len="med"/>
                    </a:lnR>
                    <a:lnT w="12700" cap="flat" cmpd="sng" algn="ctr">
                      <a:solidFill>
                        <a:srgbClr val="16FFBB"/>
                      </a:solidFill>
                      <a:prstDash val="solid"/>
                      <a:round/>
                      <a:headEnd type="none" w="med" len="med"/>
                      <a:tailEnd type="none" w="med" len="med"/>
                    </a:lnT>
                    <a:lnB w="12700" cap="flat" cmpd="sng" algn="ctr">
                      <a:solidFill>
                        <a:srgbClr val="16FFBB"/>
                      </a:solidFill>
                      <a:prstDash val="solid"/>
                      <a:round/>
                      <a:headEnd type="none" w="med" len="med"/>
                      <a:tailEnd type="none" w="med" len="med"/>
                    </a:lnB>
                  </a:tcPr>
                </a:tc>
              </a:tr>
              <a:tr h="464630">
                <a:tc>
                  <a:txBody>
                    <a:bodyPr/>
                    <a:lstStyle/>
                    <a:p>
                      <a:pPr indent="0" marL="0">
                        <a:buNone/>
                      </a:pPr>
                      <a:r>
                        <a:rPr lang="en-US" sz="1400" dirty="0">
                          <a:solidFill>
                            <a:srgbClr val="E0E4E6"/>
                          </a:solidFill>
                          <a:latin typeface="Barlow" pitchFamily="34" charset="0"/>
                          <a:ea typeface="Barlow" pitchFamily="34" charset="-122"/>
                          <a:cs typeface="Barlow" pitchFamily="34" charset="-120"/>
                        </a:rPr>
                        <a:t>4</a:t>
                      </a:r>
                      <a:endParaRPr lang="en-US" sz="1400" dirty="0">
                        <a:latin typeface="Barlow" charset="0"/>
                        <a:ea typeface="Barlow" charset="0"/>
                        <a:cs typeface="Barlow" charset="0"/>
                      </a:endParaRPr>
                    </a:p>
                  </a:txBody>
                  <a:tcPr marL="178330" marR="178330" marT="6350" marB="6350" anchor="ctr">
                    <a:lnL w="12700" cap="flat" cmpd="sng" algn="ctr">
                      <a:solidFill>
                        <a:srgbClr val="16FFBB"/>
                      </a:solidFill>
                      <a:prstDash val="solid"/>
                      <a:round/>
                      <a:headEnd type="none" w="med" len="med"/>
                      <a:tailEnd type="none" w="med" len="med"/>
                    </a:lnL>
                    <a:lnR w="12700" cap="flat" cmpd="sng" algn="ctr">
                      <a:solidFill>
                        <a:srgbClr val="16FFBB"/>
                      </a:solidFill>
                      <a:prstDash val="solid"/>
                      <a:round/>
                      <a:headEnd type="none" w="med" len="med"/>
                      <a:tailEnd type="none" w="med" len="med"/>
                    </a:lnR>
                    <a:lnT w="12700" cap="flat" cmpd="sng" algn="ctr">
                      <a:solidFill>
                        <a:srgbClr val="16FFBB"/>
                      </a:solidFill>
                      <a:prstDash val="solid"/>
                      <a:round/>
                      <a:headEnd type="none" w="med" len="med"/>
                      <a:tailEnd type="none" w="med" len="med"/>
                    </a:lnT>
                    <a:lnB w="12700" cap="flat" cmpd="sng" algn="ctr">
                      <a:solidFill>
                        <a:srgbClr val="16FFBB"/>
                      </a:solidFill>
                      <a:prstDash val="solid"/>
                      <a:round/>
                      <a:headEnd type="none" w="med" len="med"/>
                      <a:tailEnd type="none" w="med" len="med"/>
                    </a:lnB>
                  </a:tcPr>
                </a:tc>
                <a:tc>
                  <a:txBody>
                    <a:bodyPr/>
                    <a:lstStyle/>
                    <a:p>
                      <a:pPr indent="0" marL="0">
                        <a:buNone/>
                      </a:pPr>
                      <a:r>
                        <a:rPr lang="en-US" sz="1400" dirty="0">
                          <a:solidFill>
                            <a:srgbClr val="E0E4E6"/>
                          </a:solidFill>
                          <a:latin typeface="Barlow" pitchFamily="34" charset="0"/>
                          <a:ea typeface="Barlow" pitchFamily="34" charset="-122"/>
                          <a:cs typeface="Barlow" pitchFamily="34" charset="-120"/>
                        </a:rPr>
                        <a:t>15 + (-8) = 7</a:t>
                      </a:r>
                      <a:endParaRPr lang="en-US" sz="1400" dirty="0">
                        <a:latin typeface="Barlow" charset="0"/>
                        <a:ea typeface="Barlow" charset="0"/>
                        <a:cs typeface="Barlow" charset="0"/>
                      </a:endParaRPr>
                    </a:p>
                  </a:txBody>
                  <a:tcPr marL="178330" marR="178330" marT="6350" marB="6350" anchor="ctr">
                    <a:lnL w="12700" cap="flat" cmpd="sng" algn="ctr">
                      <a:solidFill>
                        <a:srgbClr val="16FFBB"/>
                      </a:solidFill>
                      <a:prstDash val="solid"/>
                      <a:round/>
                      <a:headEnd type="none" w="med" len="med"/>
                      <a:tailEnd type="none" w="med" len="med"/>
                    </a:lnL>
                    <a:lnR w="12700" cap="flat" cmpd="sng" algn="ctr">
                      <a:solidFill>
                        <a:srgbClr val="16FFBB"/>
                      </a:solidFill>
                      <a:prstDash val="solid"/>
                      <a:round/>
                      <a:headEnd type="none" w="med" len="med"/>
                      <a:tailEnd type="none" w="med" len="med"/>
                    </a:lnR>
                    <a:lnT w="12700" cap="flat" cmpd="sng" algn="ctr">
                      <a:solidFill>
                        <a:srgbClr val="16FFBB"/>
                      </a:solidFill>
                      <a:prstDash val="solid"/>
                      <a:round/>
                      <a:headEnd type="none" w="med" len="med"/>
                      <a:tailEnd type="none" w="med" len="med"/>
                    </a:lnT>
                    <a:lnB w="12700" cap="flat" cmpd="sng" algn="ctr">
                      <a:solidFill>
                        <a:srgbClr val="16FFBB"/>
                      </a:solidFill>
                      <a:prstDash val="solid"/>
                      <a:round/>
                      <a:headEnd type="none" w="med" len="med"/>
                      <a:tailEnd type="none" w="med" len="med"/>
                    </a:lnB>
                  </a:tcPr>
                </a:tc>
                <a:tc>
                  <a:txBody>
                    <a:bodyPr/>
                    <a:lstStyle/>
                    <a:p>
                      <a:pPr indent="0" marL="0">
                        <a:buNone/>
                      </a:pPr>
                      <a:r>
                        <a:rPr lang="en-US" sz="1400" dirty="0">
                          <a:solidFill>
                            <a:srgbClr val="E0E4E6"/>
                          </a:solidFill>
                          <a:latin typeface="Consolas" pitchFamily="34" charset="0"/>
                          <a:ea typeface="Consolas" pitchFamily="34" charset="-122"/>
                          <a:cs typeface="Consolas" pitchFamily="34" charset="-120"/>
                        </a:rPr>
                        <a:t>00001111</a:t>
                      </a:r>
                      <a:pPr indent="0" marL="0">
                        <a:buNone/>
                      </a:pPr>
                      <a:r>
                        <a:rPr lang="en-US" sz="1400" dirty="0">
                          <a:solidFill>
                            <a:srgbClr val="E0E4E6"/>
                          </a:solidFill>
                          <a:latin typeface="Barlow" pitchFamily="34" charset="0"/>
                          <a:ea typeface="Barlow" pitchFamily="34" charset="-122"/>
                          <a:cs typeface="Barlow" pitchFamily="34" charset="-120"/>
                        </a:rPr>
                        <a:t> + </a:t>
                      </a:r>
                      <a:pPr indent="0" marL="0">
                        <a:buNone/>
                      </a:pPr>
                      <a:r>
                        <a:rPr lang="en-US" sz="1400" dirty="0">
                          <a:solidFill>
                            <a:srgbClr val="E0E4E6"/>
                          </a:solidFill>
                          <a:latin typeface="Consolas" pitchFamily="34" charset="0"/>
                          <a:ea typeface="Consolas" pitchFamily="34" charset="-122"/>
                          <a:cs typeface="Consolas" pitchFamily="34" charset="-120"/>
                        </a:rPr>
                        <a:t>11111000</a:t>
                      </a:r>
                      <a:endParaRPr lang="en-US" sz="1400" dirty="0">
                        <a:latin typeface="Consolas" charset="0"/>
                        <a:ea typeface="Consolas" charset="0"/>
                        <a:cs typeface="Consolas" charset="0"/>
                      </a:endParaRPr>
                    </a:p>
                  </a:txBody>
                  <a:tcPr marL="178330" marR="178330" marT="6350" marB="6350" anchor="ctr">
                    <a:lnL w="12700" cap="flat" cmpd="sng" algn="ctr">
                      <a:solidFill>
                        <a:srgbClr val="16FFBB"/>
                      </a:solidFill>
                      <a:prstDash val="solid"/>
                      <a:round/>
                      <a:headEnd type="none" w="med" len="med"/>
                      <a:tailEnd type="none" w="med" len="med"/>
                    </a:lnL>
                    <a:lnR w="12700" cap="flat" cmpd="sng" algn="ctr">
                      <a:solidFill>
                        <a:srgbClr val="16FFBB"/>
                      </a:solidFill>
                      <a:prstDash val="solid"/>
                      <a:round/>
                      <a:headEnd type="none" w="med" len="med"/>
                      <a:tailEnd type="none" w="med" len="med"/>
                    </a:lnR>
                    <a:lnT w="12700" cap="flat" cmpd="sng" algn="ctr">
                      <a:solidFill>
                        <a:srgbClr val="16FFBB"/>
                      </a:solidFill>
                      <a:prstDash val="solid"/>
                      <a:round/>
                      <a:headEnd type="none" w="med" len="med"/>
                      <a:tailEnd type="none" w="med" len="med"/>
                    </a:lnT>
                    <a:lnB w="12700" cap="flat" cmpd="sng" algn="ctr">
                      <a:solidFill>
                        <a:srgbClr val="16FFBB"/>
                      </a:solidFill>
                      <a:prstDash val="solid"/>
                      <a:round/>
                      <a:headEnd type="none" w="med" len="med"/>
                      <a:tailEnd type="none" w="med" len="med"/>
                    </a:lnB>
                  </a:tcPr>
                </a:tc>
                <a:tc>
                  <a:txBody>
                    <a:bodyPr/>
                    <a:lstStyle/>
                    <a:p>
                      <a:pPr indent="0" marL="0">
                        <a:buNone/>
                      </a:pPr>
                      <a:r>
                        <a:rPr lang="en-US" sz="1400" dirty="0">
                          <a:solidFill>
                            <a:srgbClr val="E0E4E6"/>
                          </a:solidFill>
                          <a:latin typeface="Consolas" pitchFamily="34" charset="0"/>
                          <a:ea typeface="Consolas" pitchFamily="34" charset="-122"/>
                          <a:cs typeface="Consolas" pitchFamily="34" charset="-120"/>
                        </a:rPr>
                        <a:t>00000111</a:t>
                      </a:r>
                      <a:endParaRPr lang="en-US" sz="1400" dirty="0">
                        <a:latin typeface="Consolas" charset="0"/>
                        <a:ea typeface="Consolas" charset="0"/>
                        <a:cs typeface="Consolas" charset="0"/>
                      </a:endParaRPr>
                    </a:p>
                  </a:txBody>
                  <a:tcPr marL="178330" marR="178330" marT="6350" marB="6350" anchor="ctr">
                    <a:lnL w="12700" cap="flat" cmpd="sng" algn="ctr">
                      <a:solidFill>
                        <a:srgbClr val="16FFBB"/>
                      </a:solidFill>
                      <a:prstDash val="solid"/>
                      <a:round/>
                      <a:headEnd type="none" w="med" len="med"/>
                      <a:tailEnd type="none" w="med" len="med"/>
                    </a:lnL>
                    <a:lnR w="12700" cap="flat" cmpd="sng" algn="ctr">
                      <a:solidFill>
                        <a:srgbClr val="16FFBB"/>
                      </a:solidFill>
                      <a:prstDash val="solid"/>
                      <a:round/>
                      <a:headEnd type="none" w="med" len="med"/>
                      <a:tailEnd type="none" w="med" len="med"/>
                    </a:lnR>
                    <a:lnT w="12700" cap="flat" cmpd="sng" algn="ctr">
                      <a:solidFill>
                        <a:srgbClr val="16FFBB"/>
                      </a:solidFill>
                      <a:prstDash val="solid"/>
                      <a:round/>
                      <a:headEnd type="none" w="med" len="med"/>
                      <a:tailEnd type="none" w="med" len="med"/>
                    </a:lnT>
                    <a:lnB w="12700" cap="flat" cmpd="sng" algn="ctr">
                      <a:solidFill>
                        <a:srgbClr val="16FFBB"/>
                      </a:solidFill>
                      <a:prstDash val="solid"/>
                      <a:round/>
                      <a:headEnd type="none" w="med" len="med"/>
                      <a:tailEnd type="none" w="med" len="med"/>
                    </a:lnB>
                  </a:tcPr>
                </a:tc>
                <a:tc>
                  <a:txBody>
                    <a:bodyPr/>
                    <a:lstStyle/>
                    <a:p>
                      <a:pPr indent="0" marL="0">
                        <a:buNone/>
                      </a:pPr>
                      <a:r>
                        <a:rPr lang="en-US" sz="1400" dirty="0">
                          <a:solidFill>
                            <a:srgbClr val="E0E4E6"/>
                          </a:solidFill>
                          <a:latin typeface="Consolas" pitchFamily="34" charset="0"/>
                          <a:ea typeface="Consolas" pitchFamily="34" charset="-122"/>
                          <a:cs typeface="Consolas" pitchFamily="34" charset="-120"/>
                        </a:rPr>
                        <a:t>00000111</a:t>
                      </a:r>
                      <a:endParaRPr lang="en-US" sz="1400" dirty="0">
                        <a:latin typeface="Consolas" charset="0"/>
                        <a:ea typeface="Consolas" charset="0"/>
                        <a:cs typeface="Consolas" charset="0"/>
                      </a:endParaRPr>
                    </a:p>
                  </a:txBody>
                  <a:tcPr marL="178330" marR="178330" marT="6350" marB="6350" anchor="ctr">
                    <a:lnL w="12700" cap="flat" cmpd="sng" algn="ctr">
                      <a:solidFill>
                        <a:srgbClr val="16FFBB"/>
                      </a:solidFill>
                      <a:prstDash val="solid"/>
                      <a:round/>
                      <a:headEnd type="none" w="med" len="med"/>
                      <a:tailEnd type="none" w="med" len="med"/>
                    </a:lnL>
                    <a:lnR w="12700" cap="flat" cmpd="sng" algn="ctr">
                      <a:solidFill>
                        <a:srgbClr val="16FFBB"/>
                      </a:solidFill>
                      <a:prstDash val="solid"/>
                      <a:round/>
                      <a:headEnd type="none" w="med" len="med"/>
                      <a:tailEnd type="none" w="med" len="med"/>
                    </a:lnR>
                    <a:lnT w="12700" cap="flat" cmpd="sng" algn="ctr">
                      <a:solidFill>
                        <a:srgbClr val="16FFBB"/>
                      </a:solidFill>
                      <a:prstDash val="solid"/>
                      <a:round/>
                      <a:headEnd type="none" w="med" len="med"/>
                      <a:tailEnd type="none" w="med" len="med"/>
                    </a:lnT>
                    <a:lnB w="12700" cap="flat" cmpd="sng" algn="ctr">
                      <a:solidFill>
                        <a:srgbClr val="16FFBB"/>
                      </a:solidFill>
                      <a:prstDash val="solid"/>
                      <a:round/>
                      <a:headEnd type="none" w="med" len="med"/>
                      <a:tailEnd type="none" w="med" len="med"/>
                    </a:lnB>
                  </a:tcPr>
                </a:tc>
                <a:tc>
                  <a:txBody>
                    <a:bodyPr/>
                    <a:lstStyle/>
                    <a:p>
                      <a:pPr indent="0" marL="0">
                        <a:buNone/>
                      </a:pPr>
                      <a:r>
                        <a:rPr lang="en-US" sz="1400" dirty="0">
                          <a:solidFill>
                            <a:srgbClr val="E0E4E6"/>
                          </a:solidFill>
                          <a:latin typeface="Barlow" pitchFamily="34" charset="0"/>
                          <a:ea typeface="Barlow" pitchFamily="34" charset="-122"/>
                          <a:cs typeface="Barlow" pitchFamily="34" charset="-120"/>
                        </a:rPr>
                        <a:t>✓</a:t>
                      </a:r>
                      <a:endParaRPr lang="en-US" sz="1400" dirty="0">
                        <a:latin typeface="Barlow" charset="0"/>
                        <a:ea typeface="Barlow" charset="0"/>
                        <a:cs typeface="Barlow" charset="0"/>
                      </a:endParaRPr>
                    </a:p>
                  </a:txBody>
                  <a:tcPr marL="178330" marR="178330" marT="6350" marB="6350" anchor="ctr">
                    <a:lnL w="12700" cap="flat" cmpd="sng" algn="ctr">
                      <a:solidFill>
                        <a:srgbClr val="16FFBB"/>
                      </a:solidFill>
                      <a:prstDash val="solid"/>
                      <a:round/>
                      <a:headEnd type="none" w="med" len="med"/>
                      <a:tailEnd type="none" w="med" len="med"/>
                    </a:lnL>
                    <a:lnR w="12700" cap="flat" cmpd="sng" algn="ctr">
                      <a:solidFill>
                        <a:srgbClr val="16FFBB"/>
                      </a:solidFill>
                      <a:prstDash val="solid"/>
                      <a:round/>
                      <a:headEnd type="none" w="med" len="med"/>
                      <a:tailEnd type="none" w="med" len="med"/>
                    </a:lnR>
                    <a:lnT w="12700" cap="flat" cmpd="sng" algn="ctr">
                      <a:solidFill>
                        <a:srgbClr val="16FFBB"/>
                      </a:solidFill>
                      <a:prstDash val="solid"/>
                      <a:round/>
                      <a:headEnd type="none" w="med" len="med"/>
                      <a:tailEnd type="none" w="med" len="med"/>
                    </a:lnT>
                    <a:lnB w="12700" cap="flat" cmpd="sng" algn="ctr">
                      <a:solidFill>
                        <a:srgbClr val="16FFBB"/>
                      </a:solidFill>
                      <a:prstDash val="solid"/>
                      <a:round/>
                      <a:headEnd type="none" w="med" len="med"/>
                      <a:tailEnd type="none" w="med" len="med"/>
                    </a:lnB>
                  </a:tcPr>
                </a:tc>
              </a:tr>
              <a:tr h="461455">
                <a:tc>
                  <a:txBody>
                    <a:bodyPr/>
                    <a:lstStyle/>
                    <a:p>
                      <a:pPr indent="0" marL="0">
                        <a:buNone/>
                      </a:pPr>
                      <a:r>
                        <a:rPr lang="en-US" sz="1400" dirty="0">
                          <a:solidFill>
                            <a:srgbClr val="E0E4E6"/>
                          </a:solidFill>
                          <a:latin typeface="Barlow" pitchFamily="34" charset="0"/>
                          <a:ea typeface="Barlow" pitchFamily="34" charset="-122"/>
                          <a:cs typeface="Barlow" pitchFamily="34" charset="-120"/>
                        </a:rPr>
                        <a:t>5</a:t>
                      </a:r>
                      <a:endParaRPr lang="en-US" sz="1400" dirty="0">
                        <a:latin typeface="Barlow" charset="0"/>
                        <a:ea typeface="Barlow" charset="0"/>
                        <a:cs typeface="Barlow" charset="0"/>
                      </a:endParaRPr>
                    </a:p>
                  </a:txBody>
                  <a:tcPr marL="178330" marR="178330" marT="6350" marB="6350" anchor="ctr">
                    <a:lnL w="12700" cap="flat" cmpd="sng" algn="ctr">
                      <a:solidFill>
                        <a:srgbClr val="16FFBB"/>
                      </a:solidFill>
                      <a:prstDash val="solid"/>
                      <a:round/>
                      <a:headEnd type="none" w="med" len="med"/>
                      <a:tailEnd type="none" w="med" len="med"/>
                    </a:lnL>
                    <a:lnR w="12700" cap="flat" cmpd="sng" algn="ctr">
                      <a:solidFill>
                        <a:srgbClr val="16FFBB"/>
                      </a:solidFill>
                      <a:prstDash val="solid"/>
                      <a:round/>
                      <a:headEnd type="none" w="med" len="med"/>
                      <a:tailEnd type="none" w="med" len="med"/>
                    </a:lnR>
                    <a:lnT w="12700" cap="flat" cmpd="sng" algn="ctr">
                      <a:solidFill>
                        <a:srgbClr val="16FFBB"/>
                      </a:solidFill>
                      <a:prstDash val="solid"/>
                      <a:round/>
                      <a:headEnd type="none" w="med" len="med"/>
                      <a:tailEnd type="none" w="med" len="med"/>
                    </a:lnT>
                    <a:lnB w="12700" cap="flat" cmpd="sng" algn="ctr">
                      <a:solidFill>
                        <a:srgbClr val="16FFBB"/>
                      </a:solidFill>
                      <a:prstDash val="solid"/>
                      <a:round/>
                      <a:headEnd type="none" w="med" len="med"/>
                      <a:tailEnd type="none" w="med" len="med"/>
                    </a:lnB>
                  </a:tcPr>
                </a:tc>
                <a:tc>
                  <a:txBody>
                    <a:bodyPr/>
                    <a:lstStyle/>
                    <a:p>
                      <a:pPr indent="0" marL="0">
                        <a:buNone/>
                      </a:pPr>
                      <a:r>
                        <a:rPr lang="en-US" sz="1400" dirty="0">
                          <a:solidFill>
                            <a:srgbClr val="E0E4E6"/>
                          </a:solidFill>
                          <a:latin typeface="Barlow" pitchFamily="34" charset="0"/>
                          <a:ea typeface="Barlow" pitchFamily="34" charset="-122"/>
                          <a:cs typeface="Barlow" pitchFamily="34" charset="-120"/>
                        </a:rPr>
                        <a:t>3 - 10 = -7</a:t>
                      </a:r>
                      <a:endParaRPr lang="en-US" sz="1400" dirty="0">
                        <a:latin typeface="Barlow" charset="0"/>
                        <a:ea typeface="Barlow" charset="0"/>
                        <a:cs typeface="Barlow" charset="0"/>
                      </a:endParaRPr>
                    </a:p>
                  </a:txBody>
                  <a:tcPr marL="178330" marR="178330" marT="6350" marB="6350" anchor="ctr">
                    <a:lnL w="12700" cap="flat" cmpd="sng" algn="ctr">
                      <a:solidFill>
                        <a:srgbClr val="16FFBB"/>
                      </a:solidFill>
                      <a:prstDash val="solid"/>
                      <a:round/>
                      <a:headEnd type="none" w="med" len="med"/>
                      <a:tailEnd type="none" w="med" len="med"/>
                    </a:lnL>
                    <a:lnR w="12700" cap="flat" cmpd="sng" algn="ctr">
                      <a:solidFill>
                        <a:srgbClr val="16FFBB"/>
                      </a:solidFill>
                      <a:prstDash val="solid"/>
                      <a:round/>
                      <a:headEnd type="none" w="med" len="med"/>
                      <a:tailEnd type="none" w="med" len="med"/>
                    </a:lnR>
                    <a:lnT w="12700" cap="flat" cmpd="sng" algn="ctr">
                      <a:solidFill>
                        <a:srgbClr val="16FFBB"/>
                      </a:solidFill>
                      <a:prstDash val="solid"/>
                      <a:round/>
                      <a:headEnd type="none" w="med" len="med"/>
                      <a:tailEnd type="none" w="med" len="med"/>
                    </a:lnT>
                    <a:lnB w="12700" cap="flat" cmpd="sng" algn="ctr">
                      <a:solidFill>
                        <a:srgbClr val="16FFBB"/>
                      </a:solidFill>
                      <a:prstDash val="solid"/>
                      <a:round/>
                      <a:headEnd type="none" w="med" len="med"/>
                      <a:tailEnd type="none" w="med" len="med"/>
                    </a:lnB>
                  </a:tcPr>
                </a:tc>
                <a:tc>
                  <a:txBody>
                    <a:bodyPr/>
                    <a:lstStyle/>
                    <a:p>
                      <a:pPr indent="0" marL="0">
                        <a:buNone/>
                      </a:pPr>
                      <a:r>
                        <a:rPr lang="en-US" sz="1400" dirty="0">
                          <a:solidFill>
                            <a:srgbClr val="E0E4E6"/>
                          </a:solidFill>
                          <a:latin typeface="Consolas" pitchFamily="34" charset="0"/>
                          <a:ea typeface="Consolas" pitchFamily="34" charset="-122"/>
                          <a:cs typeface="Consolas" pitchFamily="34" charset="-120"/>
                        </a:rPr>
                        <a:t>00000011</a:t>
                      </a:r>
                      <a:pPr indent="0" marL="0">
                        <a:buNone/>
                      </a:pPr>
                      <a:r>
                        <a:rPr lang="en-US" sz="1400" dirty="0">
                          <a:solidFill>
                            <a:srgbClr val="E0E4E6"/>
                          </a:solidFill>
                          <a:latin typeface="Barlow" pitchFamily="34" charset="0"/>
                          <a:ea typeface="Barlow" pitchFamily="34" charset="-122"/>
                          <a:cs typeface="Barlow" pitchFamily="34" charset="-120"/>
                        </a:rPr>
                        <a:t> - </a:t>
                      </a:r>
                      <a:pPr indent="0" marL="0">
                        <a:buNone/>
                      </a:pPr>
                      <a:r>
                        <a:rPr lang="en-US" sz="1400" dirty="0">
                          <a:solidFill>
                            <a:srgbClr val="E0E4E6"/>
                          </a:solidFill>
                          <a:latin typeface="Consolas" pitchFamily="34" charset="0"/>
                          <a:ea typeface="Consolas" pitchFamily="34" charset="-122"/>
                          <a:cs typeface="Consolas" pitchFamily="34" charset="-120"/>
                        </a:rPr>
                        <a:t>00001010</a:t>
                      </a:r>
                      <a:endParaRPr lang="en-US" sz="1400" dirty="0">
                        <a:latin typeface="Consolas" charset="0"/>
                        <a:ea typeface="Consolas" charset="0"/>
                        <a:cs typeface="Consolas" charset="0"/>
                      </a:endParaRPr>
                    </a:p>
                  </a:txBody>
                  <a:tcPr marL="178330" marR="178330" marT="6350" marB="6350" anchor="ctr">
                    <a:lnL w="12700" cap="flat" cmpd="sng" algn="ctr">
                      <a:solidFill>
                        <a:srgbClr val="16FFBB"/>
                      </a:solidFill>
                      <a:prstDash val="solid"/>
                      <a:round/>
                      <a:headEnd type="none" w="med" len="med"/>
                      <a:tailEnd type="none" w="med" len="med"/>
                    </a:lnL>
                    <a:lnR w="12700" cap="flat" cmpd="sng" algn="ctr">
                      <a:solidFill>
                        <a:srgbClr val="16FFBB"/>
                      </a:solidFill>
                      <a:prstDash val="solid"/>
                      <a:round/>
                      <a:headEnd type="none" w="med" len="med"/>
                      <a:tailEnd type="none" w="med" len="med"/>
                    </a:lnR>
                    <a:lnT w="12700" cap="flat" cmpd="sng" algn="ctr">
                      <a:solidFill>
                        <a:srgbClr val="16FFBB"/>
                      </a:solidFill>
                      <a:prstDash val="solid"/>
                      <a:round/>
                      <a:headEnd type="none" w="med" len="med"/>
                      <a:tailEnd type="none" w="med" len="med"/>
                    </a:lnT>
                    <a:lnB w="12700" cap="flat" cmpd="sng" algn="ctr">
                      <a:solidFill>
                        <a:srgbClr val="16FFBB"/>
                      </a:solidFill>
                      <a:prstDash val="solid"/>
                      <a:round/>
                      <a:headEnd type="none" w="med" len="med"/>
                      <a:tailEnd type="none" w="med" len="med"/>
                    </a:lnB>
                  </a:tcPr>
                </a:tc>
                <a:tc>
                  <a:txBody>
                    <a:bodyPr/>
                    <a:lstStyle/>
                    <a:p>
                      <a:pPr indent="0" marL="0">
                        <a:buNone/>
                      </a:pPr>
                      <a:r>
                        <a:rPr lang="en-US" sz="1400" dirty="0">
                          <a:solidFill>
                            <a:srgbClr val="E0E4E6"/>
                          </a:solidFill>
                          <a:latin typeface="Consolas" pitchFamily="34" charset="0"/>
                          <a:ea typeface="Consolas" pitchFamily="34" charset="-122"/>
                          <a:cs typeface="Consolas" pitchFamily="34" charset="-120"/>
                        </a:rPr>
                        <a:t>11111001</a:t>
                      </a:r>
                      <a:endParaRPr lang="en-US" sz="1400" dirty="0">
                        <a:latin typeface="Consolas" charset="0"/>
                        <a:ea typeface="Consolas" charset="0"/>
                        <a:cs typeface="Consolas" charset="0"/>
                      </a:endParaRPr>
                    </a:p>
                  </a:txBody>
                  <a:tcPr marL="178330" marR="178330" marT="6350" marB="6350" anchor="ctr">
                    <a:lnL w="12700" cap="flat" cmpd="sng" algn="ctr">
                      <a:solidFill>
                        <a:srgbClr val="16FFBB"/>
                      </a:solidFill>
                      <a:prstDash val="solid"/>
                      <a:round/>
                      <a:headEnd type="none" w="med" len="med"/>
                      <a:tailEnd type="none" w="med" len="med"/>
                    </a:lnL>
                    <a:lnR w="12700" cap="flat" cmpd="sng" algn="ctr">
                      <a:solidFill>
                        <a:srgbClr val="16FFBB"/>
                      </a:solidFill>
                      <a:prstDash val="solid"/>
                      <a:round/>
                      <a:headEnd type="none" w="med" len="med"/>
                      <a:tailEnd type="none" w="med" len="med"/>
                    </a:lnR>
                    <a:lnT w="12700" cap="flat" cmpd="sng" algn="ctr">
                      <a:solidFill>
                        <a:srgbClr val="16FFBB"/>
                      </a:solidFill>
                      <a:prstDash val="solid"/>
                      <a:round/>
                      <a:headEnd type="none" w="med" len="med"/>
                      <a:tailEnd type="none" w="med" len="med"/>
                    </a:lnT>
                    <a:lnB w="12700" cap="flat" cmpd="sng" algn="ctr">
                      <a:solidFill>
                        <a:srgbClr val="16FFBB"/>
                      </a:solidFill>
                      <a:prstDash val="solid"/>
                      <a:round/>
                      <a:headEnd type="none" w="med" len="med"/>
                      <a:tailEnd type="none" w="med" len="med"/>
                    </a:lnB>
                  </a:tcPr>
                </a:tc>
                <a:tc>
                  <a:txBody>
                    <a:bodyPr/>
                    <a:lstStyle/>
                    <a:p>
                      <a:pPr indent="0" marL="0">
                        <a:buNone/>
                      </a:pPr>
                      <a:r>
                        <a:rPr lang="en-US" sz="1400" dirty="0">
                          <a:solidFill>
                            <a:srgbClr val="E0E4E6"/>
                          </a:solidFill>
                          <a:latin typeface="Consolas" pitchFamily="34" charset="0"/>
                          <a:ea typeface="Consolas" pitchFamily="34" charset="-122"/>
                          <a:cs typeface="Consolas" pitchFamily="34" charset="-120"/>
                        </a:rPr>
                        <a:t>11111001</a:t>
                      </a:r>
                      <a:endParaRPr lang="en-US" sz="1400" dirty="0">
                        <a:latin typeface="Consolas" charset="0"/>
                        <a:ea typeface="Consolas" charset="0"/>
                        <a:cs typeface="Consolas" charset="0"/>
                      </a:endParaRPr>
                    </a:p>
                  </a:txBody>
                  <a:tcPr marL="178330" marR="178330" marT="6350" marB="6350" anchor="ctr">
                    <a:lnL w="12700" cap="flat" cmpd="sng" algn="ctr">
                      <a:solidFill>
                        <a:srgbClr val="16FFBB"/>
                      </a:solidFill>
                      <a:prstDash val="solid"/>
                      <a:round/>
                      <a:headEnd type="none" w="med" len="med"/>
                      <a:tailEnd type="none" w="med" len="med"/>
                    </a:lnL>
                    <a:lnR w="12700" cap="flat" cmpd="sng" algn="ctr">
                      <a:solidFill>
                        <a:srgbClr val="16FFBB"/>
                      </a:solidFill>
                      <a:prstDash val="solid"/>
                      <a:round/>
                      <a:headEnd type="none" w="med" len="med"/>
                      <a:tailEnd type="none" w="med" len="med"/>
                    </a:lnR>
                    <a:lnT w="12700" cap="flat" cmpd="sng" algn="ctr">
                      <a:solidFill>
                        <a:srgbClr val="16FFBB"/>
                      </a:solidFill>
                      <a:prstDash val="solid"/>
                      <a:round/>
                      <a:headEnd type="none" w="med" len="med"/>
                      <a:tailEnd type="none" w="med" len="med"/>
                    </a:lnT>
                    <a:lnB w="12700" cap="flat" cmpd="sng" algn="ctr">
                      <a:solidFill>
                        <a:srgbClr val="16FFBB"/>
                      </a:solidFill>
                      <a:prstDash val="solid"/>
                      <a:round/>
                      <a:headEnd type="none" w="med" len="med"/>
                      <a:tailEnd type="none" w="med" len="med"/>
                    </a:lnB>
                  </a:tcPr>
                </a:tc>
                <a:tc>
                  <a:txBody>
                    <a:bodyPr/>
                    <a:lstStyle/>
                    <a:p>
                      <a:pPr indent="0" marL="0">
                        <a:buNone/>
                      </a:pPr>
                      <a:r>
                        <a:rPr lang="en-US" sz="1400" dirty="0">
                          <a:solidFill>
                            <a:srgbClr val="E0E4E6"/>
                          </a:solidFill>
                          <a:latin typeface="Barlow" pitchFamily="34" charset="0"/>
                          <a:ea typeface="Barlow" pitchFamily="34" charset="-122"/>
                          <a:cs typeface="Barlow" pitchFamily="34" charset="-120"/>
                        </a:rPr>
                        <a:t>✓</a:t>
                      </a:r>
                      <a:endParaRPr lang="en-US" sz="1400" dirty="0">
                        <a:latin typeface="Barlow" charset="0"/>
                        <a:ea typeface="Barlow" charset="0"/>
                        <a:cs typeface="Barlow" charset="0"/>
                      </a:endParaRPr>
                    </a:p>
                  </a:txBody>
                  <a:tcPr marL="178330" marR="178330" marT="6350" marB="6350" anchor="ctr">
                    <a:lnL w="12700" cap="flat" cmpd="sng" algn="ctr">
                      <a:solidFill>
                        <a:srgbClr val="16FFBB"/>
                      </a:solidFill>
                      <a:prstDash val="solid"/>
                      <a:round/>
                      <a:headEnd type="none" w="med" len="med"/>
                      <a:tailEnd type="none" w="med" len="med"/>
                    </a:lnL>
                    <a:lnR w="12700" cap="flat" cmpd="sng" algn="ctr">
                      <a:solidFill>
                        <a:srgbClr val="16FFBB"/>
                      </a:solidFill>
                      <a:prstDash val="solid"/>
                      <a:round/>
                      <a:headEnd type="none" w="med" len="med"/>
                      <a:tailEnd type="none" w="med" len="med"/>
                    </a:lnR>
                    <a:lnT w="12700" cap="flat" cmpd="sng" algn="ctr">
                      <a:solidFill>
                        <a:srgbClr val="16FFBB"/>
                      </a:solidFill>
                      <a:prstDash val="solid"/>
                      <a:round/>
                      <a:headEnd type="none" w="med" len="med"/>
                      <a:tailEnd type="none" w="med" len="med"/>
                    </a:lnT>
                    <a:lnB w="12700" cap="flat" cmpd="sng" algn="ctr">
                      <a:solidFill>
                        <a:srgbClr val="16FFBB"/>
                      </a:solidFill>
                      <a:prstDash val="solid"/>
                      <a:round/>
                      <a:headEnd type="none" w="med" len="med"/>
                      <a:tailEnd type="none" w="med" len="med"/>
                    </a:lnB>
                  </a:tcPr>
                </a:tc>
              </a:tr>
            </a:tbl>
          </a:graphicData>
        </a:graphic>
      </p:graphicFrame>
      <p:sp>
        <p:nvSpPr>
          <p:cNvPr id="5" name="Text 2"/>
          <p:cNvSpPr/>
          <p:nvPr/>
        </p:nvSpPr>
        <p:spPr>
          <a:xfrm>
            <a:off x="734200" y="5395714"/>
            <a:ext cx="10723294" cy="527645"/>
          </a:xfrm>
          <a:prstGeom prst="rect">
            <a:avLst/>
          </a:prstGeom>
          <a:noFill/>
          <a:ln/>
        </p:spPr>
        <p:txBody>
          <a:bodyPr wrap="square" lIns="0" tIns="0" rIns="0" bIns="0" rtlCol="0" anchor="t">
            <a:normAutofit/>
          </a:bodyPr>
          <a:lstStyle/>
          <a:p>
            <a:pPr algn="l" indent="0" marL="0">
              <a:lnSpc>
                <a:spcPct val="123000"/>
              </a:lnSpc>
              <a:buNone/>
            </a:pPr>
            <a:r>
              <a:rPr lang="en-US" sz="1400" dirty="0">
                <a:solidFill>
                  <a:srgbClr val="E0E4E6"/>
                </a:solidFill>
                <a:latin typeface="Barlow" pitchFamily="34" charset="0"/>
                <a:ea typeface="Barlow" pitchFamily="34" charset="-122"/>
                <a:cs typeface="Barlow" pitchFamily="34" charset="-120"/>
              </a:rPr>
              <a:t>These results confirm that the arithmetic unit correctly handles both positive and negative integer operations within the 8-bit signed range using the Two's Complement representation.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7619809" y="0"/>
            <a:ext cx="4571886" cy="6858000"/>
          </a:xfrm>
          <a:prstGeom prst="rect">
            <a:avLst/>
          </a:prstGeom>
          <a:solidFill>
            <a:srgbClr val="0A081B"/>
          </a:solidFill>
          <a:ln/>
        </p:spPr>
      </p:sp>
      <p:pic>
        <p:nvPicPr>
          <p:cNvPr id="3" name="Image 0" descr="preencoded.png">    </p:cNvPr>
          <p:cNvPicPr>
            <a:picLocks noChangeAspect="1"/>
          </p:cNvPicPr>
          <p:nvPr/>
        </p:nvPicPr>
        <p:blipFill>
          <a:blip r:embed="rId1"/>
          <a:stretch>
            <a:fillRect/>
          </a:stretch>
        </p:blipFill>
        <p:spPr>
          <a:xfrm>
            <a:off x="7703647" y="125710"/>
            <a:ext cx="4404210" cy="6606480"/>
          </a:xfrm>
          <a:prstGeom prst="rect">
            <a:avLst/>
          </a:prstGeom>
        </p:spPr>
      </p:pic>
      <p:sp>
        <p:nvSpPr>
          <p:cNvPr id="4" name="Text 1"/>
          <p:cNvSpPr/>
          <p:nvPr/>
        </p:nvSpPr>
        <p:spPr>
          <a:xfrm>
            <a:off x="734200" y="736997"/>
            <a:ext cx="6151409" cy="466130"/>
          </a:xfrm>
          <a:prstGeom prst="rect">
            <a:avLst/>
          </a:prstGeom>
          <a:noFill/>
          <a:ln/>
        </p:spPr>
        <p:txBody>
          <a:bodyPr wrap="none" lIns="0" tIns="0" rIns="0" bIns="0" rtlCol="0" anchor="t"/>
          <a:lstStyle/>
          <a:p>
            <a:pPr algn="l" indent="0" marL="0">
              <a:lnSpc>
                <a:spcPct val="104000"/>
              </a:lnSpc>
              <a:buNone/>
            </a:pPr>
            <a:r>
              <a:rPr lang="en-US" sz="2900" b="1" dirty="0">
                <a:solidFill>
                  <a:srgbClr val="F0FCFF"/>
                </a:solidFill>
                <a:latin typeface="Spline Sans Bold" pitchFamily="34" charset="0"/>
                <a:ea typeface="Spline Sans Bold" pitchFamily="34" charset="-122"/>
                <a:cs typeface="Spline Sans Bold" pitchFamily="34" charset="-120"/>
              </a:rPr>
              <a:t>Conclusion &amp; Future Scope</a:t>
            </a:r>
            <a:endParaRPr lang="en-US" sz="2900" dirty="0"/>
          </a:p>
        </p:txBody>
      </p:sp>
      <p:sp>
        <p:nvSpPr>
          <p:cNvPr id="5" name="Shape 2"/>
          <p:cNvSpPr/>
          <p:nvPr/>
        </p:nvSpPr>
        <p:spPr>
          <a:xfrm>
            <a:off x="734200" y="1404441"/>
            <a:ext cx="3008535" cy="2231330"/>
          </a:xfrm>
          <a:prstGeom prst="roundRect">
            <a:avLst>
              <a:gd name="adj" fmla="val 11283"/>
            </a:avLst>
          </a:prstGeom>
          <a:solidFill>
            <a:srgbClr val="0A081B"/>
          </a:solidFill>
          <a:ln w="19050">
            <a:solidFill>
              <a:srgbClr val="16FFBB"/>
            </a:solidFill>
            <a:prstDash val="solid"/>
          </a:ln>
        </p:spPr>
      </p:sp>
      <p:sp>
        <p:nvSpPr>
          <p:cNvPr id="6" name="Text 3"/>
          <p:cNvSpPr/>
          <p:nvPr/>
        </p:nvSpPr>
        <p:spPr>
          <a:xfrm>
            <a:off x="921025" y="1591270"/>
            <a:ext cx="2634886" cy="233164"/>
          </a:xfrm>
          <a:prstGeom prst="rect">
            <a:avLst/>
          </a:prstGeom>
          <a:noFill/>
          <a:ln/>
        </p:spPr>
        <p:txBody>
          <a:bodyPr wrap="none" lIns="0" tIns="0" rIns="0" bIns="0" rtlCol="0" anchor="t"/>
          <a:lstStyle/>
          <a:p>
            <a:pPr algn="l" indent="0" marL="0">
              <a:lnSpc>
                <a:spcPct val="104000"/>
              </a:lnSpc>
              <a:buNone/>
            </a:pPr>
            <a:r>
              <a:rPr lang="en-US" sz="1450" b="1" dirty="0">
                <a:solidFill>
                  <a:srgbClr val="E0E4E6"/>
                </a:solidFill>
                <a:latin typeface="Spline Sans Bold" pitchFamily="34" charset="0"/>
                <a:ea typeface="Spline Sans Bold" pitchFamily="34" charset="-122"/>
                <a:cs typeface="Spline Sans Bold" pitchFamily="34" charset="-120"/>
              </a:rPr>
              <a:t>What We Achieved</a:t>
            </a:r>
            <a:endParaRPr lang="en-US" sz="1450" dirty="0"/>
          </a:p>
        </p:txBody>
      </p:sp>
      <p:sp>
        <p:nvSpPr>
          <p:cNvPr id="7" name="Text 4"/>
          <p:cNvSpPr/>
          <p:nvPr/>
        </p:nvSpPr>
        <p:spPr>
          <a:xfrm>
            <a:off x="921025" y="1904901"/>
            <a:ext cx="2634886" cy="1544042"/>
          </a:xfrm>
          <a:prstGeom prst="rect">
            <a:avLst/>
          </a:prstGeom>
          <a:noFill/>
          <a:ln/>
        </p:spPr>
        <p:txBody>
          <a:bodyPr wrap="square" lIns="0" tIns="0" rIns="0" bIns="0" rtlCol="0" anchor="t">
            <a:normAutofit/>
          </a:bodyPr>
          <a:lstStyle/>
          <a:p>
            <a:pPr algn="l" marL="264160" indent="-264160">
              <a:lnSpc>
                <a:spcPct val="120000"/>
              </a:lnSpc>
              <a:buSzPct val="100000"/>
              <a:buChar char="•"/>
            </a:pPr>
            <a:r>
              <a:rPr lang="en-US" sz="1300" dirty="0">
                <a:solidFill>
                  <a:srgbClr val="E0E4E6"/>
                </a:solidFill>
                <a:latin typeface="Barlow" pitchFamily="34" charset="0"/>
                <a:ea typeface="Barlow" pitchFamily="34" charset="-122"/>
                <a:cs typeface="Barlow" pitchFamily="34" charset="-120"/>
              </a:rPr>
              <a:t>Designed a working 8-bit signed arithmetic unit</a:t>
            </a:r>
            <a:endParaRPr lang="en-US" sz="1300" dirty="0"/>
          </a:p>
          <a:p>
            <a:pPr algn="l" marL="264160" indent="-264160">
              <a:lnSpc>
                <a:spcPct val="120000"/>
              </a:lnSpc>
              <a:buSzPct val="100000"/>
              <a:buChar char="•"/>
            </a:pPr>
            <a:r>
              <a:rPr lang="en-US" sz="1300" dirty="0">
                <a:solidFill>
                  <a:srgbClr val="E0E4E6"/>
                </a:solidFill>
                <a:latin typeface="Barlow" pitchFamily="34" charset="0"/>
                <a:ea typeface="Barlow" pitchFamily="34" charset="-122"/>
                <a:cs typeface="Barlow" pitchFamily="34" charset="-120"/>
              </a:rPr>
              <a:t>Successfully handled positive and negative numbers</a:t>
            </a:r>
            <a:endParaRPr lang="en-US" sz="1300" dirty="0"/>
          </a:p>
          <a:p>
            <a:pPr algn="l" marL="264160" indent="-264160">
              <a:lnSpc>
                <a:spcPct val="120000"/>
              </a:lnSpc>
              <a:buSzPct val="100000"/>
              <a:buChar char="•"/>
            </a:pPr>
            <a:r>
              <a:rPr lang="en-US" sz="1300" dirty="0">
                <a:solidFill>
                  <a:srgbClr val="E0E4E6"/>
                </a:solidFill>
                <a:latin typeface="Barlow" pitchFamily="34" charset="0"/>
                <a:ea typeface="Barlow" pitchFamily="34" charset="-122"/>
                <a:cs typeface="Barlow" pitchFamily="34" charset="-120"/>
              </a:rPr>
              <a:t>Verified correct results using simulation</a:t>
            </a:r>
            <a:endParaRPr lang="en-US" sz="1300" dirty="0"/>
          </a:p>
        </p:txBody>
      </p:sp>
      <p:sp>
        <p:nvSpPr>
          <p:cNvPr id="8" name="Shape 5"/>
          <p:cNvSpPr/>
          <p:nvPr/>
        </p:nvSpPr>
        <p:spPr>
          <a:xfrm>
            <a:off x="3876975" y="1404441"/>
            <a:ext cx="3008634" cy="2231330"/>
          </a:xfrm>
          <a:prstGeom prst="roundRect">
            <a:avLst>
              <a:gd name="adj" fmla="val 11283"/>
            </a:avLst>
          </a:prstGeom>
          <a:solidFill>
            <a:srgbClr val="0A081B"/>
          </a:solidFill>
          <a:ln w="19050">
            <a:solidFill>
              <a:srgbClr val="29DDDA"/>
            </a:solidFill>
            <a:prstDash val="solid"/>
          </a:ln>
        </p:spPr>
      </p:sp>
      <p:sp>
        <p:nvSpPr>
          <p:cNvPr id="9" name="Text 6"/>
          <p:cNvSpPr/>
          <p:nvPr/>
        </p:nvSpPr>
        <p:spPr>
          <a:xfrm>
            <a:off x="4063799" y="1591270"/>
            <a:ext cx="2634986" cy="233164"/>
          </a:xfrm>
          <a:prstGeom prst="rect">
            <a:avLst/>
          </a:prstGeom>
          <a:noFill/>
          <a:ln/>
        </p:spPr>
        <p:txBody>
          <a:bodyPr wrap="none" lIns="0" tIns="0" rIns="0" bIns="0" rtlCol="0" anchor="t"/>
          <a:lstStyle/>
          <a:p>
            <a:pPr algn="l" indent="0" marL="0">
              <a:lnSpc>
                <a:spcPct val="104000"/>
              </a:lnSpc>
              <a:buNone/>
            </a:pPr>
            <a:r>
              <a:rPr lang="en-US" sz="1450" b="1" dirty="0">
                <a:solidFill>
                  <a:srgbClr val="E0E4E6"/>
                </a:solidFill>
                <a:latin typeface="Spline Sans Bold" pitchFamily="34" charset="0"/>
                <a:ea typeface="Spline Sans Bold" pitchFamily="34" charset="-122"/>
                <a:cs typeface="Spline Sans Bold" pitchFamily="34" charset="-120"/>
              </a:rPr>
              <a:t>What We Learned</a:t>
            </a:r>
            <a:endParaRPr lang="en-US" sz="1450" dirty="0"/>
          </a:p>
        </p:txBody>
      </p:sp>
      <p:sp>
        <p:nvSpPr>
          <p:cNvPr id="10" name="Text 7"/>
          <p:cNvSpPr/>
          <p:nvPr/>
        </p:nvSpPr>
        <p:spPr>
          <a:xfrm>
            <a:off x="4063799" y="1904901"/>
            <a:ext cx="2634986" cy="1544042"/>
          </a:xfrm>
          <a:prstGeom prst="rect">
            <a:avLst/>
          </a:prstGeom>
          <a:noFill/>
          <a:ln/>
        </p:spPr>
        <p:txBody>
          <a:bodyPr wrap="square" lIns="0" tIns="0" rIns="0" bIns="0" rtlCol="0" anchor="t">
            <a:normAutofit/>
          </a:bodyPr>
          <a:lstStyle/>
          <a:p>
            <a:pPr algn="l" marL="264160" indent="-264160">
              <a:lnSpc>
                <a:spcPct val="120000"/>
              </a:lnSpc>
              <a:buSzPct val="100000"/>
              <a:buChar char="•"/>
            </a:pPr>
            <a:r>
              <a:rPr lang="en-US" sz="1300" dirty="0">
                <a:solidFill>
                  <a:srgbClr val="E0E4E6"/>
                </a:solidFill>
                <a:latin typeface="Barlow" pitchFamily="34" charset="0"/>
                <a:ea typeface="Barlow" pitchFamily="34" charset="-122"/>
                <a:cs typeface="Barlow" pitchFamily="34" charset="-120"/>
              </a:rPr>
              <a:t>How computers do math at the basic level</a:t>
            </a:r>
            <a:endParaRPr lang="en-US" sz="1300" dirty="0"/>
          </a:p>
          <a:p>
            <a:pPr algn="l" marL="264160" indent="-264160">
              <a:lnSpc>
                <a:spcPct val="120000"/>
              </a:lnSpc>
              <a:buSzPct val="100000"/>
              <a:buChar char="•"/>
            </a:pPr>
            <a:r>
              <a:rPr lang="en-US" sz="1300" dirty="0">
                <a:solidFill>
                  <a:srgbClr val="E0E4E6"/>
                </a:solidFill>
                <a:latin typeface="Barlow" pitchFamily="34" charset="0"/>
                <a:ea typeface="Barlow" pitchFamily="34" charset="-122"/>
                <a:cs typeface="Barlow" pitchFamily="34" charset="-120"/>
              </a:rPr>
              <a:t>How logic gates combine to build larger systems</a:t>
            </a:r>
            <a:endParaRPr lang="en-US" sz="1300" dirty="0"/>
          </a:p>
          <a:p>
            <a:pPr algn="l" marL="264160" indent="-264160">
              <a:lnSpc>
                <a:spcPct val="120000"/>
              </a:lnSpc>
              <a:buSzPct val="100000"/>
              <a:buChar char="•"/>
            </a:pPr>
            <a:r>
              <a:rPr lang="en-US" sz="1300" dirty="0">
                <a:solidFill>
                  <a:srgbClr val="E0E4E6"/>
                </a:solidFill>
                <a:latin typeface="Barlow" pitchFamily="34" charset="0"/>
                <a:ea typeface="Barlow" pitchFamily="34" charset="-122"/>
                <a:cs typeface="Barlow" pitchFamily="34" charset="-120"/>
              </a:rPr>
              <a:t>How Two's Complement represents negative numbers</a:t>
            </a:r>
            <a:endParaRPr lang="en-US" sz="1300" dirty="0"/>
          </a:p>
        </p:txBody>
      </p:sp>
      <p:sp>
        <p:nvSpPr>
          <p:cNvPr id="11" name="Shape 8"/>
          <p:cNvSpPr/>
          <p:nvPr/>
        </p:nvSpPr>
        <p:spPr>
          <a:xfrm>
            <a:off x="734200" y="3770015"/>
            <a:ext cx="6151409" cy="1506240"/>
          </a:xfrm>
          <a:prstGeom prst="roundRect">
            <a:avLst>
              <a:gd name="adj" fmla="val 16714"/>
            </a:avLst>
          </a:prstGeom>
          <a:solidFill>
            <a:srgbClr val="0A081B"/>
          </a:solidFill>
          <a:ln w="19050">
            <a:solidFill>
              <a:srgbClr val="37A7E7"/>
            </a:solidFill>
            <a:prstDash val="solid"/>
          </a:ln>
        </p:spPr>
      </p:sp>
      <p:sp>
        <p:nvSpPr>
          <p:cNvPr id="12" name="Text 9"/>
          <p:cNvSpPr/>
          <p:nvPr/>
        </p:nvSpPr>
        <p:spPr>
          <a:xfrm>
            <a:off x="921025" y="3956844"/>
            <a:ext cx="5777760" cy="233164"/>
          </a:xfrm>
          <a:prstGeom prst="rect">
            <a:avLst/>
          </a:prstGeom>
          <a:noFill/>
          <a:ln/>
        </p:spPr>
        <p:txBody>
          <a:bodyPr wrap="none" lIns="0" tIns="0" rIns="0" bIns="0" rtlCol="0" anchor="t"/>
          <a:lstStyle/>
          <a:p>
            <a:pPr algn="l" indent="0" marL="0">
              <a:lnSpc>
                <a:spcPct val="104000"/>
              </a:lnSpc>
              <a:buNone/>
            </a:pPr>
            <a:r>
              <a:rPr lang="en-US" sz="1450" b="1" dirty="0">
                <a:solidFill>
                  <a:srgbClr val="E0E4E6"/>
                </a:solidFill>
                <a:latin typeface="Spline Sans Bold" pitchFamily="34" charset="0"/>
                <a:ea typeface="Spline Sans Bold" pitchFamily="34" charset="-122"/>
                <a:cs typeface="Spline Sans Bold" pitchFamily="34" charset="-120"/>
              </a:rPr>
              <a:t>Future Scope</a:t>
            </a:r>
            <a:endParaRPr lang="en-US" sz="1450" dirty="0"/>
          </a:p>
        </p:txBody>
      </p:sp>
      <p:sp>
        <p:nvSpPr>
          <p:cNvPr id="13" name="Text 10"/>
          <p:cNvSpPr/>
          <p:nvPr/>
        </p:nvSpPr>
        <p:spPr>
          <a:xfrm>
            <a:off x="921025" y="4270474"/>
            <a:ext cx="5777760" cy="818952"/>
          </a:xfrm>
          <a:prstGeom prst="rect">
            <a:avLst/>
          </a:prstGeom>
          <a:noFill/>
          <a:ln/>
        </p:spPr>
        <p:txBody>
          <a:bodyPr wrap="square" lIns="0" tIns="0" rIns="0" bIns="0" rtlCol="0" anchor="t">
            <a:normAutofit/>
          </a:bodyPr>
          <a:lstStyle/>
          <a:p>
            <a:pPr algn="l" marL="264160" indent="-264160">
              <a:lnSpc>
                <a:spcPct val="120000"/>
              </a:lnSpc>
              <a:buSzPct val="100000"/>
              <a:buChar char="•"/>
            </a:pPr>
            <a:r>
              <a:rPr lang="en-US" sz="1300" dirty="0">
                <a:solidFill>
                  <a:srgbClr val="E0E4E6"/>
                </a:solidFill>
                <a:latin typeface="Barlow" pitchFamily="34" charset="0"/>
                <a:ea typeface="Barlow" pitchFamily="34" charset="-122"/>
                <a:cs typeface="Barlow" pitchFamily="34" charset="-120"/>
              </a:rPr>
              <a:t>Extend to 16-bit or 32-bit operations</a:t>
            </a:r>
            <a:endParaRPr lang="en-US" sz="1300" dirty="0"/>
          </a:p>
          <a:p>
            <a:pPr algn="l" marL="264160" indent="-264160">
              <a:lnSpc>
                <a:spcPct val="120000"/>
              </a:lnSpc>
              <a:buSzPct val="100000"/>
              <a:buChar char="•"/>
            </a:pPr>
            <a:r>
              <a:rPr lang="en-US" sz="1300" dirty="0">
                <a:solidFill>
                  <a:srgbClr val="E0E4E6"/>
                </a:solidFill>
                <a:latin typeface="Barlow" pitchFamily="34" charset="0"/>
                <a:ea typeface="Barlow" pitchFamily="34" charset="-122"/>
                <a:cs typeface="Barlow" pitchFamily="34" charset="-120"/>
              </a:rPr>
              <a:t>Add multiplication and division</a:t>
            </a:r>
            <a:endParaRPr lang="en-US" sz="1300" dirty="0"/>
          </a:p>
          <a:p>
            <a:pPr algn="l" marL="264160" indent="-264160">
              <a:lnSpc>
                <a:spcPct val="120000"/>
              </a:lnSpc>
              <a:buSzPct val="100000"/>
              <a:buChar char="•"/>
            </a:pPr>
            <a:r>
              <a:rPr lang="en-US" sz="1300" dirty="0">
                <a:solidFill>
                  <a:srgbClr val="E0E4E6"/>
                </a:solidFill>
                <a:latin typeface="Barlow" pitchFamily="34" charset="0"/>
                <a:ea typeface="Barlow" pitchFamily="34" charset="-122"/>
                <a:cs typeface="Barlow" pitchFamily="34" charset="-120"/>
              </a:rPr>
              <a:t>Implement on actual hardware (FPGA)</a:t>
            </a:r>
            <a:endParaRPr lang="en-US" sz="1300" dirty="0"/>
          </a:p>
        </p:txBody>
      </p:sp>
      <p:sp>
        <p:nvSpPr>
          <p:cNvPr id="14" name="Text 11"/>
          <p:cNvSpPr/>
          <p:nvPr/>
        </p:nvSpPr>
        <p:spPr>
          <a:xfrm>
            <a:off x="734200" y="5477570"/>
            <a:ext cx="6151409" cy="643434"/>
          </a:xfrm>
          <a:prstGeom prst="rect">
            <a:avLst/>
          </a:prstGeom>
          <a:noFill/>
          <a:ln/>
        </p:spPr>
        <p:txBody>
          <a:bodyPr wrap="none" lIns="0" tIns="0" rIns="0" bIns="0" rtlCol="0" anchor="t"/>
          <a:lstStyle/>
          <a:p>
            <a:pPr algn="ctr" indent="0" marL="0">
              <a:lnSpc>
                <a:spcPct val="104000"/>
              </a:lnSpc>
              <a:buNone/>
            </a:pPr>
            <a:r>
              <a:rPr lang="en-US" sz="4050" b="1" dirty="0">
                <a:solidFill>
                  <a:srgbClr val="6296FF"/>
                </a:solidFill>
                <a:latin typeface="Spline Sans Bold" pitchFamily="34" charset="0"/>
                <a:ea typeface="Spline Sans Bold" pitchFamily="34" charset="-122"/>
                <a:cs typeface="Spline Sans Bold" pitchFamily="34" charset="-120"/>
              </a:rPr>
              <a:t>Thank You!</a:t>
            </a:r>
            <a:endParaRPr lang="en-US" sz="4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2026-09-14T18:09:20Z</dcterms:created>
  <dcterms:modified xsi:type="dcterms:W3CDTF">2026-09-14T18:09:20Z</dcterms:modified>
</cp:coreProperties>
</file>