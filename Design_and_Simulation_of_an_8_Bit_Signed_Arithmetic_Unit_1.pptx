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522710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and Simulation of an 8-Bit Signed Arithmetic Unit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034705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and subtract 8-bit positive and negative numbers.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3563838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61475" y="4154388"/>
            <a:ext cx="6296860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K. Naadhiyah – Roll No. [2620030325]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G. Vinay – Roll No. [2620030322]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S. Karthikeya – Roll No. [2620030335]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G. Bharath – Roll No. [2620030326]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326753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Abstract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2016621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Calculation Unit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1475" y="2607171"/>
            <a:ext cx="6296860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small system that does basic math operations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Takes two numbers as input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Performs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addition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Gives the correct answer as output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61475" y="4071541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8-Bit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1475" y="4662091"/>
            <a:ext cx="6296860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Numbers are stored as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 binary digits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(0s and 1s)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handle numbers from 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−128 to +127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Positive: 1, 2, 3… | Negative: −1, −2, −3…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034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spc="-5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Arthemetic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91332"/>
            <a:ext cx="11478330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arithmetic unit has four main sections working together in a simple flow: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285" y="1572121"/>
            <a:ext cx="6339027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80117" y="3779834"/>
            <a:ext cx="1190113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80249" y="3779834"/>
            <a:ext cx="1190113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88532" y="3779834"/>
            <a:ext cx="1190113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210" y="3779834"/>
            <a:ext cx="1190113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spc="-2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1475" y="4592935"/>
            <a:ext cx="5381193" cy="770334"/>
          </a:xfrm>
          <a:prstGeom prst="roundRect">
            <a:avLst>
              <a:gd name="adj" fmla="val 772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5855" y="4747320"/>
            <a:ext cx="507243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📥</a:t>
            </a:r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Input Section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5855" y="5047655"/>
            <a:ext cx="507243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Receives the two 8-bit numbers from the user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8928" y="4592935"/>
            <a:ext cx="5381292" cy="770334"/>
          </a:xfrm>
          <a:prstGeom prst="roundRect">
            <a:avLst>
              <a:gd name="adj" fmla="val 772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3309" y="4747320"/>
            <a:ext cx="507253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🎛️</a:t>
            </a:r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Control Section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03309" y="5047655"/>
            <a:ext cx="507253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decides: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5469533"/>
            <a:ext cx="5381193" cy="770334"/>
          </a:xfrm>
          <a:prstGeom prst="roundRect">
            <a:avLst>
              <a:gd name="adj" fmla="val 772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855" y="5623917"/>
            <a:ext cx="5072432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Processing Section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15855" y="5924252"/>
            <a:ext cx="5072432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arithmetic unit performs the actual math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48928" y="5469533"/>
            <a:ext cx="5381292" cy="770334"/>
          </a:xfrm>
          <a:prstGeom prst="roundRect">
            <a:avLst>
              <a:gd name="adj" fmla="val 772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3309" y="5623917"/>
            <a:ext cx="5072531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📤</a:t>
            </a:r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Output Section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03309" y="5924252"/>
            <a:ext cx="5072531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Displays the final 8-bit result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631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Implimentation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560413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448322"/>
            <a:ext cx="691944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Simple Parts Used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7029" y="2785864"/>
            <a:ext cx="691944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Handling Negative Numbers — Two's Complement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617029" y="3215283"/>
            <a:ext cx="6919442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clever method to store negative numbers in binary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first bit</a:t>
            </a:r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tells if the number is positive (0) or negative (1)</a:t>
            </a:r>
            <a:endParaRPr lang="en-US" sz="1300" dirty="0"/>
          </a:p>
          <a:p>
            <a:pPr algn="l" marL="264160" indent="-26416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Lets the same adder circuit handle both positive and negative numbers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85755"/>
            <a:ext cx="3520788" cy="11666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6779" y="5274866"/>
            <a:ext cx="306637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26779" y="5642967"/>
            <a:ext cx="306637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Small circuits that add two binary numbers together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5354" y="5085755"/>
            <a:ext cx="3520888" cy="11666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00658" y="5274866"/>
            <a:ext cx="306647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 Gates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4600658" y="5642967"/>
            <a:ext cx="3066477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Basic components — AND, OR, NOT gates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9332" y="5085755"/>
            <a:ext cx="3520888" cy="11666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74637" y="5274866"/>
            <a:ext cx="3066477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Multiplexers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8274637" y="5642967"/>
            <a:ext cx="3066477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Choose between addition or subtraction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134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Working process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30536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Addition Example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1475" y="1845171"/>
            <a:ext cx="5238421" cy="1861939"/>
          </a:xfrm>
          <a:prstGeom prst="roundRect">
            <a:avLst>
              <a:gd name="adj" fmla="val 362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0524" y="1864221"/>
            <a:ext cx="2600161" cy="911920"/>
          </a:xfrm>
          <a:custGeom>
            <a:avLst/>
            <a:gdLst/>
            <a:ahLst/>
            <a:cxnLst/>
            <a:rect l="l" t="t" r="r" b="b"/>
            <a:pathLst>
              <a:path w="2600161" h="911920">
                <a:moveTo>
                  <a:pt x="56233" y="0"/>
                </a:moveTo>
                <a:lnTo>
                  <a:pt x="2600161" y="0"/>
                </a:lnTo>
                <a:lnTo>
                  <a:pt x="2600161" y="911920"/>
                </a:lnTo>
                <a:lnTo>
                  <a:pt x="0" y="911920"/>
                </a:lnTo>
                <a:lnTo>
                  <a:pt x="0" y="56234"/>
                </a:lnTo>
                <a:arcTo hR="56234" wR="56233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6" name="Text 4"/>
          <p:cNvSpPr/>
          <p:nvPr/>
        </p:nvSpPr>
        <p:spPr>
          <a:xfrm>
            <a:off x="841156" y="2024856"/>
            <a:ext cx="22788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Number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156" y="2422426"/>
            <a:ext cx="22788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80685" y="1864221"/>
            <a:ext cx="2600161" cy="911920"/>
          </a:xfrm>
          <a:custGeom>
            <a:avLst/>
            <a:gdLst/>
            <a:ahLst/>
            <a:cxnLst/>
            <a:rect l="l" t="t" r="r" b="b"/>
            <a:pathLst>
              <a:path w="2600161" h="911920">
                <a:moveTo>
                  <a:pt x="0" y="0"/>
                </a:moveTo>
                <a:lnTo>
                  <a:pt x="2543928" y="0"/>
                </a:lnTo>
                <a:arcTo hR="56234" wR="56233" stAng="16200000" swAng="5400000"/>
                <a:lnTo>
                  <a:pt x="2600161" y="911920"/>
                </a:lnTo>
                <a:lnTo>
                  <a:pt x="0" y="911920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9" name="Shape 7"/>
          <p:cNvSpPr/>
          <p:nvPr/>
        </p:nvSpPr>
        <p:spPr>
          <a:xfrm>
            <a:off x="3280685" y="1864221"/>
            <a:ext cx="19050" cy="91192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0" name="Text 8"/>
          <p:cNvSpPr/>
          <p:nvPr/>
        </p:nvSpPr>
        <p:spPr>
          <a:xfrm>
            <a:off x="3441316" y="2024856"/>
            <a:ext cx="22788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Number 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441316" y="2422426"/>
            <a:ext cx="22788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0524" y="2776141"/>
            <a:ext cx="5200321" cy="911920"/>
          </a:xfrm>
          <a:custGeom>
            <a:avLst/>
            <a:gdLst/>
            <a:ahLst/>
            <a:cxnLst/>
            <a:rect l="l" t="t" r="r" b="b"/>
            <a:pathLst>
              <a:path w="5200321" h="911920">
                <a:moveTo>
                  <a:pt x="0" y="0"/>
                </a:moveTo>
                <a:lnTo>
                  <a:pt x="5200321" y="0"/>
                </a:lnTo>
                <a:lnTo>
                  <a:pt x="5200321" y="855685"/>
                </a:lnTo>
                <a:arcTo hR="56234" wR="56233" stAng="0" swAng="5400000"/>
                <a:lnTo>
                  <a:pt x="56233" y="911920"/>
                </a:lnTo>
                <a:arcTo hR="56234" wR="56233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3" name="Shape 11"/>
          <p:cNvSpPr/>
          <p:nvPr/>
        </p:nvSpPr>
        <p:spPr>
          <a:xfrm>
            <a:off x="680524" y="2776141"/>
            <a:ext cx="520032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4" name="Text 12"/>
          <p:cNvSpPr/>
          <p:nvPr/>
        </p:nvSpPr>
        <p:spPr>
          <a:xfrm>
            <a:off x="841156" y="2936776"/>
            <a:ext cx="4879059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156" y="3334345"/>
            <a:ext cx="4879059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+ 3 = 8 ✓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1475" y="3860701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Subtraction with Negative Number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61475" y="4275336"/>
            <a:ext cx="5238421" cy="1861939"/>
          </a:xfrm>
          <a:prstGeom prst="roundRect">
            <a:avLst>
              <a:gd name="adj" fmla="val 3624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524" y="4294386"/>
            <a:ext cx="2600161" cy="911920"/>
          </a:xfrm>
          <a:custGeom>
            <a:avLst/>
            <a:gdLst/>
            <a:ahLst/>
            <a:cxnLst/>
            <a:rect l="l" t="t" r="r" b="b"/>
            <a:pathLst>
              <a:path w="2600161" h="911920">
                <a:moveTo>
                  <a:pt x="56233" y="0"/>
                </a:moveTo>
                <a:lnTo>
                  <a:pt x="2600161" y="0"/>
                </a:lnTo>
                <a:lnTo>
                  <a:pt x="2600161" y="911920"/>
                </a:lnTo>
                <a:lnTo>
                  <a:pt x="0" y="911920"/>
                </a:lnTo>
                <a:lnTo>
                  <a:pt x="0" y="56234"/>
                </a:lnTo>
                <a:arcTo hR="56234" wR="56233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9" name="Text 17"/>
          <p:cNvSpPr/>
          <p:nvPr/>
        </p:nvSpPr>
        <p:spPr>
          <a:xfrm>
            <a:off x="841156" y="4455021"/>
            <a:ext cx="22788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Number 1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156" y="4852591"/>
            <a:ext cx="22788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80685" y="4294386"/>
            <a:ext cx="2600161" cy="911920"/>
          </a:xfrm>
          <a:custGeom>
            <a:avLst/>
            <a:gdLst/>
            <a:ahLst/>
            <a:cxnLst/>
            <a:rect l="l" t="t" r="r" b="b"/>
            <a:pathLst>
              <a:path w="2600161" h="911920">
                <a:moveTo>
                  <a:pt x="0" y="0"/>
                </a:moveTo>
                <a:lnTo>
                  <a:pt x="2543928" y="0"/>
                </a:lnTo>
                <a:arcTo hR="56234" wR="56233" stAng="16200000" swAng="5400000"/>
                <a:lnTo>
                  <a:pt x="2600161" y="911920"/>
                </a:lnTo>
                <a:lnTo>
                  <a:pt x="0" y="911920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80685" y="4294386"/>
            <a:ext cx="19050" cy="91192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3" name="Text 21"/>
          <p:cNvSpPr/>
          <p:nvPr/>
        </p:nvSpPr>
        <p:spPr>
          <a:xfrm>
            <a:off x="3441316" y="4455021"/>
            <a:ext cx="227889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Number 2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441316" y="4852591"/>
            <a:ext cx="2278898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−3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0524" y="5206305"/>
            <a:ext cx="5200321" cy="911920"/>
          </a:xfrm>
          <a:custGeom>
            <a:avLst/>
            <a:gdLst/>
            <a:ahLst/>
            <a:cxnLst/>
            <a:rect l="l" t="t" r="r" b="b"/>
            <a:pathLst>
              <a:path w="5200321" h="911920">
                <a:moveTo>
                  <a:pt x="0" y="0"/>
                </a:moveTo>
                <a:lnTo>
                  <a:pt x="5200321" y="0"/>
                </a:lnTo>
                <a:lnTo>
                  <a:pt x="5200321" y="855685"/>
                </a:lnTo>
                <a:arcTo hR="56234" wR="56233" stAng="0" swAng="5400000"/>
                <a:lnTo>
                  <a:pt x="56233" y="911920"/>
                </a:lnTo>
                <a:arcTo hR="56234" wR="56233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26" name="Shape 24"/>
          <p:cNvSpPr/>
          <p:nvPr/>
        </p:nvSpPr>
        <p:spPr>
          <a:xfrm>
            <a:off x="680524" y="5206305"/>
            <a:ext cx="520032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7" name="Text 25"/>
          <p:cNvSpPr/>
          <p:nvPr/>
        </p:nvSpPr>
        <p:spPr>
          <a:xfrm>
            <a:off x="841156" y="5366941"/>
            <a:ext cx="4879059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Answer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1156" y="5764510"/>
            <a:ext cx="4879059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+ (−3) = 2 ✓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98149" y="1430536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Happens Inside the System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298149" y="1845171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8324" y="1869232"/>
            <a:ext cx="240996" cy="3132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6796116" y="1895376"/>
            <a:ext cx="4740454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Convert to Binary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796116" y="2292945"/>
            <a:ext cx="4740454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Numbers are converted into 0s and 1s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98149" y="2759075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8324" y="2783136"/>
            <a:ext cx="240996" cy="3132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850" dirty="0"/>
          </a:p>
        </p:txBody>
      </p:sp>
      <p:sp>
        <p:nvSpPr>
          <p:cNvPr id="36" name="Text 34"/>
          <p:cNvSpPr/>
          <p:nvPr/>
        </p:nvSpPr>
        <p:spPr>
          <a:xfrm>
            <a:off x="6796116" y="2809280"/>
            <a:ext cx="4740454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 Circuits Work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796116" y="3206849"/>
            <a:ext cx="4740454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circuits add or subtract the binary values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98149" y="3672979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8324" y="3697039"/>
            <a:ext cx="240996" cy="3132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850" dirty="0"/>
          </a:p>
        </p:txBody>
      </p:sp>
      <p:sp>
        <p:nvSpPr>
          <p:cNvPr id="40" name="Text 38"/>
          <p:cNvSpPr/>
          <p:nvPr/>
        </p:nvSpPr>
        <p:spPr>
          <a:xfrm>
            <a:off x="6796116" y="3723184"/>
            <a:ext cx="4740454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Display Answer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6796116" y="4120753"/>
            <a:ext cx="4740454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Result is converted back and shown as output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6606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Computer Testing &amp; Results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78893"/>
            <a:ext cx="1086874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Software Used:</a:t>
            </a:r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[Add the simulation software name, e.g., Xilinx, ModelSim, Logisim]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tested the system with positive numbers, negative numbers, and mixed operations to verify every answer is correct.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95476"/>
          <a:ext cx="9143771" cy="914400"/>
        </p:xfrm>
        <a:graphic>
          <a:graphicData uri="http://schemas.openxmlformats.org/drawingml/2006/table">
            <a:tbl>
              <a:tblPr/>
              <a:tblGrid>
                <a:gridCol w="1956374"/>
                <a:gridCol w="1956374"/>
                <a:gridCol w="2173749"/>
                <a:gridCol w="2391124"/>
                <a:gridCol w="2391124"/>
              </a:tblGrid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Number 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Number 2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Operation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Expected Answer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Status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5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3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Add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8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FEED9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✓ Correct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4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Subtract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FEED9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✓ Correct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−5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Add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2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FEED9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✓ Correct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−8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3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Add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−5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9FEED9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✓ Correct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3172005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663522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415503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64655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5372100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14392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75723" y="5608340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All tests passed!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system works correctly for all positive, negative, and mixed test cases.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9" y="786209"/>
            <a:ext cx="3523567" cy="528558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61380"/>
            <a:ext cx="6296860" cy="54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Uses &amp; Conclusion</a:t>
            </a:r>
            <a:endParaRPr lang="en-US" sz="3250" dirty="0"/>
          </a:p>
        </p:txBody>
      </p:sp>
      <p:sp>
        <p:nvSpPr>
          <p:cNvPr id="5" name="Text 1"/>
          <p:cNvSpPr/>
          <p:nvPr/>
        </p:nvSpPr>
        <p:spPr>
          <a:xfrm>
            <a:off x="5233360" y="1476474"/>
            <a:ext cx="294414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Where This System is Used</a:t>
            </a:r>
            <a:endParaRPr lang="en-US" sz="16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915517"/>
            <a:ext cx="418593" cy="41860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837389" y="1915517"/>
            <a:ext cx="2340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Computers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837389" y="2336006"/>
            <a:ext cx="234011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uses similar units for all calculations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043238"/>
            <a:ext cx="418593" cy="4186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37389" y="3043238"/>
            <a:ext cx="2340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Calculators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5837389" y="3463727"/>
            <a:ext cx="234011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Basic calculators rely on arithmetic units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4170958"/>
            <a:ext cx="418593" cy="41860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837389" y="4170958"/>
            <a:ext cx="2340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 Phones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837389" y="4591447"/>
            <a:ext cx="234011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Phone processors use these exact units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3360" y="5298678"/>
            <a:ext cx="418593" cy="41860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837389" y="5298678"/>
            <a:ext cx="2340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Digital Devices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5837389" y="5719167"/>
            <a:ext cx="2340115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Microwaves, washing machines, and more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8592426" y="1476474"/>
            <a:ext cx="294414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592426" y="1896963"/>
            <a:ext cx="2944144" cy="1387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computers perform basic math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to design digital circuits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positive and negative numbers work in binary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to test and verify our design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8592426" y="3432671"/>
            <a:ext cx="294414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spc="-3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8592426" y="3853160"/>
            <a:ext cx="2944144" cy="924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Extend to </a:t>
            </a:r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16-bit or 32-bit</a:t>
            </a:r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numbers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</a:t>
            </a:r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multiplication and division</a:t>
            </a:r>
            <a:endParaRPr lang="en-US" sz="1300" dirty="0"/>
          </a:p>
          <a:p>
            <a:pPr algn="l" marL="264160" indent="-26416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Make it faster and more efficient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8592426" y="4944963"/>
            <a:ext cx="2944144" cy="761008"/>
          </a:xfrm>
          <a:prstGeom prst="roundRect">
            <a:avLst>
              <a:gd name="adj" fmla="val 9242"/>
            </a:avLst>
          </a:prstGeom>
          <a:solidFill>
            <a:srgbClr val="002A80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9804" y="5147270"/>
            <a:ext cx="209247" cy="16738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136429" y="5120184"/>
            <a:ext cx="2232763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You!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We welcome any questions from the audience.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0997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2026-09-10T08:31:44Z</dcterms:created>
  <dcterms:modified xsi:type="dcterms:W3CDTF">2026-09-10T08:31:44Z</dcterms:modified>
</cp:coreProperties>
</file>